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e48b3638e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de48b3638e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e48b3638e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de48b3638e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e48b3638e_0_1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de48b3638e_0_1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e48b3638e_0_18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3de48b3638e_0_18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e48b3638e_0_16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de48b3638e_0_1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(g3de48b3638e_62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 (g3de48b3638e_182_0)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3">
  <p:cSld name="Blank (g3de48b3638e_197_0)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4">
  <p:cSld name="Blank (g3de48b3638e_204_0)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5">
  <p:cSld name="Blank (g3de48b3638e_219_0)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6">
  <p:cSld name="Blank (g3de48b3638e_233_0)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7">
  <p:cSld name="Blank (g3de48b3638e_240_0)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gapp-tracker.netlify.app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813" y="0"/>
            <a:ext cx="8739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581025" y="4000500"/>
            <a:ext cx="5715000" cy="477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581025" y="1524000"/>
            <a:ext cx="110301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4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GAPP: THE</a:t>
            </a:r>
            <a:br>
              <a:rPr lang="en-US" sz="504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504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COORDINATION-EXECUTION</a:t>
            </a:r>
            <a:br>
              <a:rPr lang="en-US" sz="504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504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GAP SOLUTION</a:t>
            </a:r>
            <a:endParaRPr sz="5040" b="1">
              <a:solidFill>
                <a:srgbClr val="FF6B3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581025" y="428625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rPr>
              <a:t>Solving structural inefficiencies in organizational commitments and systemic reliability.</a:t>
            </a:r>
            <a:endParaRPr sz="2200" b="0">
              <a:solidFill>
                <a:srgbClr val="B0B0B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 STATEMENT</a:t>
            </a:r>
            <a:endParaRPr sz="2850" b="1">
              <a:solidFill>
                <a:srgbClr val="FF6B3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21"/>
          <p:cNvGrpSpPr/>
          <p:nvPr/>
        </p:nvGrpSpPr>
        <p:grpSpPr>
          <a:xfrm>
            <a:off x="757238" y="1519238"/>
            <a:ext cx="10672763" cy="3814763"/>
            <a:chOff x="757238" y="1519238"/>
            <a:chExt cx="10672763" cy="3814763"/>
          </a:xfrm>
        </p:grpSpPr>
        <p:sp>
          <p:nvSpPr>
            <p:cNvPr id="125" name="Google Shape;125;p21"/>
            <p:cNvSpPr/>
            <p:nvPr/>
          </p:nvSpPr>
          <p:spPr>
            <a:xfrm>
              <a:off x="762000" y="1524000"/>
              <a:ext cx="10668000" cy="3810000"/>
            </a:xfrm>
            <a:prstGeom prst="roundRect">
              <a:avLst>
                <a:gd name="adj" fmla="val 5000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6" name="Google Shape;126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57238" y="1519238"/>
              <a:ext cx="8386800" cy="362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21"/>
            <p:cNvSpPr txBox="1"/>
            <p:nvPr/>
          </p:nvSpPr>
          <p:spPr>
            <a:xfrm>
              <a:off x="1238250" y="1524000"/>
              <a:ext cx="9715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Commitment–Execution Gap</a:t>
              </a:r>
              <a:endParaRPr sz="36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22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Modern coordination systems suffer from a structural gap between expressed commitment and actual execution.</a:t>
              </a:r>
              <a:endParaRPr sz="2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3000"/>
                </a:spcBef>
                <a:spcAft>
                  <a:spcPts val="1125"/>
                </a:spcAft>
                <a:buNone/>
              </a:pPr>
              <a:r>
                <a:rPr lang="en-US" sz="1400" b="1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Leading to systemic failures:</a:t>
              </a:r>
              <a:endParaRPr sz="1400" b="1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8" name="Google Shape;128;p21"/>
          <p:cNvGrpSpPr/>
          <p:nvPr/>
        </p:nvGrpSpPr>
        <p:grpSpPr>
          <a:xfrm>
            <a:off x="1143000" y="4381500"/>
            <a:ext cx="9953775" cy="571500"/>
            <a:chOff x="1143000" y="4381500"/>
            <a:chExt cx="9953775" cy="571500"/>
          </a:xfrm>
        </p:grpSpPr>
        <p:sp>
          <p:nvSpPr>
            <p:cNvPr id="129" name="Google Shape;129;p21"/>
            <p:cNvSpPr/>
            <p:nvPr/>
          </p:nvSpPr>
          <p:spPr>
            <a:xfrm>
              <a:off x="1143000" y="4381500"/>
              <a:ext cx="2381400" cy="571500"/>
            </a:xfrm>
            <a:prstGeom prst="roundRect">
              <a:avLst>
                <a:gd name="adj" fmla="val 50000"/>
              </a:avLst>
            </a:prstGeom>
            <a:solidFill>
              <a:srgbClr val="FF6B35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1"/>
            <p:cNvSpPr txBox="1"/>
            <p:nvPr/>
          </p:nvSpPr>
          <p:spPr>
            <a:xfrm>
              <a:off x="1143000" y="438150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INEFFICIENCIES</a:t>
              </a:r>
              <a:endParaRPr sz="11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1" name="Google Shape;131;p21"/>
            <p:cNvSpPr/>
            <p:nvPr/>
          </p:nvSpPr>
          <p:spPr>
            <a:xfrm>
              <a:off x="3667125" y="4381500"/>
              <a:ext cx="2381400" cy="571500"/>
            </a:xfrm>
            <a:prstGeom prst="roundRect">
              <a:avLst>
                <a:gd name="adj" fmla="val 50000"/>
              </a:avLst>
            </a:prstGeom>
            <a:solidFill>
              <a:srgbClr val="FF6B35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1"/>
            <p:cNvSpPr txBox="1"/>
            <p:nvPr/>
          </p:nvSpPr>
          <p:spPr>
            <a:xfrm>
              <a:off x="3667125" y="438150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RESOURCE MISALLOCATION</a:t>
              </a:r>
              <a:endParaRPr sz="11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3" name="Google Shape;133;p21"/>
            <p:cNvSpPr/>
            <p:nvPr/>
          </p:nvSpPr>
          <p:spPr>
            <a:xfrm>
              <a:off x="6191250" y="4381500"/>
              <a:ext cx="2381400" cy="571500"/>
            </a:xfrm>
            <a:prstGeom prst="roundRect">
              <a:avLst>
                <a:gd name="adj" fmla="val 50000"/>
              </a:avLst>
            </a:prstGeom>
            <a:solidFill>
              <a:srgbClr val="FF6B35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6191250" y="438150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FINANCIAL LOSS</a:t>
              </a:r>
              <a:endParaRPr sz="11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5" name="Google Shape;135;p21"/>
            <p:cNvSpPr/>
            <p:nvPr/>
          </p:nvSpPr>
          <p:spPr>
            <a:xfrm>
              <a:off x="8715375" y="4381500"/>
              <a:ext cx="2381400" cy="571500"/>
            </a:xfrm>
            <a:prstGeom prst="roundRect">
              <a:avLst>
                <a:gd name="adj" fmla="val 50000"/>
              </a:avLst>
            </a:prstGeom>
            <a:solidFill>
              <a:srgbClr val="FF6B35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1"/>
            <p:cNvSpPr txBox="1"/>
            <p:nvPr/>
          </p:nvSpPr>
          <p:spPr>
            <a:xfrm>
              <a:off x="8715375" y="438150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SYSTEMIC RELIABILITY</a:t>
              </a:r>
              <a:endParaRPr sz="11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DETAILED PROBLEM STATEMENT</a:t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p22"/>
          <p:cNvGrpSpPr/>
          <p:nvPr/>
        </p:nvGrpSpPr>
        <p:grpSpPr>
          <a:xfrm>
            <a:off x="762000" y="1271800"/>
            <a:ext cx="10668000" cy="5009100"/>
            <a:chOff x="762000" y="1271800"/>
            <a:chExt cx="10668000" cy="5009100"/>
          </a:xfrm>
        </p:grpSpPr>
        <p:sp>
          <p:nvSpPr>
            <p:cNvPr id="145" name="Google Shape;145;p22"/>
            <p:cNvSpPr/>
            <p:nvPr/>
          </p:nvSpPr>
          <p:spPr>
            <a:xfrm>
              <a:off x="762000" y="1333500"/>
              <a:ext cx="10668000" cy="1238400"/>
            </a:xfrm>
            <a:prstGeom prst="roundRect">
              <a:avLst>
                <a:gd name="adj" fmla="val 8000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2"/>
            <p:cNvSpPr txBox="1"/>
            <p:nvPr/>
          </p:nvSpPr>
          <p:spPr>
            <a:xfrm>
              <a:off x="762000" y="1271800"/>
              <a:ext cx="10477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5720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The Core Failure: Commitment–Execution Gap (CEG)</a:t>
              </a:r>
              <a:endParaRPr sz="16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0" algn="just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A phenomenon where digital optimization of "sign-ups" has decoupled the act of declaration from the burden of execution, creating an environment saturated with "cheap signals."</a:t>
              </a:r>
              <a:endParaRPr sz="13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" name="Google Shape;147;p22"/>
            <p:cNvSpPr txBox="1"/>
            <p:nvPr/>
          </p:nvSpPr>
          <p:spPr>
            <a:xfrm>
              <a:off x="952500" y="2510200"/>
              <a:ext cx="10287000" cy="281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The modern coordination landscape is currently undermined by a structural failure termed the </a:t>
              </a:r>
              <a:r>
                <a:rPr lang="en-US" sz="1500" b="1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Commitment–Execution Gap (CEG)</a:t>
              </a:r>
              <a:r>
                <a:rPr lang="en-US" sz="15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, a phenomenon where the digital optimization of "sign-ups" has decoupled the act of declaration from the burden of execution. While platforms have made signaling intent nearly frictionless and cost-free, the real-world effort required for follow-through remains unchanged, leading to an environment saturated with "cheap signals"—low-fidelity commitments that users treat as non-binding placeholders. This asymmetry is not merely a behavioral quirk but a systemic design flaw that prioritizes low-barrier entry over accountability, resulting in severe resource misallocation, financial sunk costs, and operational chaos for organizers. As non-execution becomes statistically normalized, it creates a "trust tax" that forces defensive over-booking and depletes social capital. Because existing frameworks remain "execution-blind," failing to incorporate social visibility or meaningful stakes, the gap between what is promised and what is performed continues to expand, leaving coordination-dependent systems increasingly fragile, inefficient, and untrustworthy.</a:t>
              </a:r>
              <a:endParaRPr sz="15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8" name="Google Shape;148;p22"/>
            <p:cNvSpPr/>
            <p:nvPr/>
          </p:nvSpPr>
          <p:spPr>
            <a:xfrm>
              <a:off x="762000" y="5328400"/>
              <a:ext cx="10668000" cy="952500"/>
            </a:xfrm>
            <a:prstGeom prst="roundRect">
              <a:avLst>
                <a:gd name="adj" fmla="val 12000"/>
              </a:avLst>
            </a:prstGeom>
            <a:solidFill>
              <a:srgbClr val="FF6B35">
                <a:alpha val="10000"/>
              </a:srgbClr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2"/>
            <p:cNvSpPr txBox="1"/>
            <p:nvPr/>
          </p:nvSpPr>
          <p:spPr>
            <a:xfrm>
              <a:off x="952500" y="5423650"/>
              <a:ext cx="10287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Existing frameworks remain </a:t>
              </a:r>
              <a:r>
                <a:rPr lang="en-US" sz="13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"execution-blind,"</a:t>
              </a:r>
              <a:r>
                <a:rPr lang="en-US" sz="13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failing to incorporate social visibility or meaningful stakes.</a:t>
              </a:r>
              <a:endParaRPr sz="13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PRIMARY</a:t>
            </a: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 RESEARCH</a:t>
            </a:r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23"/>
          <p:cNvGrpSpPr/>
          <p:nvPr/>
        </p:nvGrpSpPr>
        <p:grpSpPr>
          <a:xfrm>
            <a:off x="571500" y="1319363"/>
            <a:ext cx="11049000" cy="4681538"/>
            <a:chOff x="571500" y="1319363"/>
            <a:chExt cx="11049000" cy="4681538"/>
          </a:xfrm>
        </p:grpSpPr>
        <p:sp>
          <p:nvSpPr>
            <p:cNvPr id="158" name="Google Shape;158;p23"/>
            <p:cNvSpPr/>
            <p:nvPr/>
          </p:nvSpPr>
          <p:spPr>
            <a:xfrm>
              <a:off x="571500" y="1333500"/>
              <a:ext cx="5334000" cy="2190900"/>
            </a:xfrm>
            <a:prstGeom prst="roundRect">
              <a:avLst>
                <a:gd name="adj" fmla="val 5217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59" name="Google Shape;159;p23"/>
            <p:cNvSpPr txBox="1"/>
            <p:nvPr/>
          </p:nvSpPr>
          <p:spPr>
            <a:xfrm>
              <a:off x="707325" y="1476375"/>
              <a:ext cx="5109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1. Organizer Perspectives</a:t>
              </a:r>
              <a:endParaRPr sz="16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 i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Focus: Systemic Impact and Coping Mechanisms</a:t>
              </a:r>
              <a:endParaRPr sz="1300" b="0" i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Key Quantitative Findings:</a:t>
              </a:r>
              <a:endParaRPr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300"/>
                </a:spcBef>
                <a:spcAft>
                  <a:spcPts val="0"/>
                </a:spcAft>
                <a:buClr>
                  <a:srgbClr val="B0B0B0"/>
                </a:buClr>
                <a:buSzPts val="1200"/>
                <a:buFont typeface="Inter"/>
                <a:buChar char="●"/>
              </a:pPr>
              <a:r>
                <a:rPr lang="en-US" sz="1200" b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Reliability Variance:</a:t>
              </a:r>
              <a:r>
                <a:rPr lang="en-US" sz="12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Follow-through as low as 0% in some digital tasks.</a:t>
              </a:r>
              <a:endParaRPr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200"/>
                <a:buFont typeface="Inter"/>
                <a:buChar char="●"/>
              </a:pPr>
              <a:r>
                <a:rPr lang="en-US" sz="1200" b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Overbooking Hedge:</a:t>
              </a:r>
              <a:r>
                <a:rPr lang="en-US" sz="12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Deliberate over-inviting to ensure capacity.</a:t>
              </a:r>
              <a:endParaRPr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200"/>
                <a:buFont typeface="Inter"/>
                <a:buChar char="●"/>
              </a:pPr>
              <a:r>
                <a:rPr lang="en-US" sz="1200" b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Trust Erosion:</a:t>
              </a:r>
              <a:r>
                <a:rPr lang="en-US" sz="12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Systems rated 3/5 on trust (the "broken" status quo).</a:t>
              </a:r>
              <a:endParaRPr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6286500" y="1319363"/>
              <a:ext cx="5334000" cy="2190900"/>
            </a:xfrm>
            <a:prstGeom prst="roundRect">
              <a:avLst>
                <a:gd name="adj" fmla="val 5217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61" name="Google Shape;161;p23"/>
            <p:cNvSpPr txBox="1"/>
            <p:nvPr/>
          </p:nvSpPr>
          <p:spPr>
            <a:xfrm>
              <a:off x="6477000" y="1476375"/>
              <a:ext cx="4953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2. Participant Perspectives</a:t>
              </a:r>
              <a:endParaRPr sz="16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 i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Focus: Frictionless Commitment and Psychological Distance</a:t>
              </a:r>
              <a:endParaRPr sz="1300" b="0" i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Top Drivers of the Gap:</a:t>
              </a:r>
              <a:endParaRPr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1150" algn="l" rtl="0">
                <a:spcBef>
                  <a:spcPts val="300"/>
                </a:spcBef>
                <a:spcAft>
                  <a:spcPts val="0"/>
                </a:spcAft>
                <a:buClr>
                  <a:srgbClr val="B0B0B0"/>
                </a:buClr>
                <a:buSzPts val="1300"/>
                <a:buFont typeface="Inter"/>
                <a:buChar char="●"/>
              </a:pPr>
              <a:r>
                <a:rPr lang="en-US" sz="1200" b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Lack of Penalties:</a:t>
              </a:r>
              <a:r>
                <a:rPr lang="en-US" sz="12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No financial or social cost for skipping.</a:t>
              </a:r>
              <a:endParaRPr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200"/>
                <a:buFont typeface="Inter"/>
                <a:buChar char="●"/>
              </a:pPr>
              <a:r>
                <a:rPr lang="en-US" sz="1200" b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The "Easy" Trap:</a:t>
              </a:r>
              <a:r>
                <a:rPr lang="en-US" sz="12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Low friction correlates with high non-execution.</a:t>
              </a:r>
              <a:endParaRPr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200"/>
                <a:buFont typeface="Inter"/>
                <a:buChar char="●"/>
              </a:pPr>
              <a:r>
                <a:rPr lang="en-US" sz="1200" b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Temporal Decay:</a:t>
              </a:r>
              <a:r>
                <a:rPr lang="en-US" sz="12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Motivation expires before the execution date.</a:t>
              </a:r>
              <a:endParaRPr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571500" y="3810000"/>
              <a:ext cx="5334000" cy="2190900"/>
            </a:xfrm>
            <a:prstGeom prst="roundRect">
              <a:avLst>
                <a:gd name="adj" fmla="val 5217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63" name="Google Shape;163;p23"/>
            <p:cNvSpPr txBox="1"/>
            <p:nvPr/>
          </p:nvSpPr>
          <p:spPr>
            <a:xfrm>
              <a:off x="762000" y="3952875"/>
              <a:ext cx="4953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3. Consequences &amp; Fixes</a:t>
              </a:r>
              <a:endParaRPr sz="16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Major Impacts:</a:t>
              </a:r>
              <a:endParaRPr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300"/>
                </a:spcBef>
                <a:spcAft>
                  <a:spcPts val="0"/>
                </a:spcAft>
                <a:buClr>
                  <a:srgbClr val="B0B0B0"/>
                </a:buClr>
                <a:buSzPts val="1200"/>
                <a:buFont typeface="Inter"/>
                <a:buChar char="●"/>
              </a:pPr>
              <a:r>
                <a:rPr lang="en-US" sz="12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Operational Chaos &amp; Emotional/Morale Drain.</a:t>
              </a:r>
              <a:endParaRPr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300"/>
                </a:spcBef>
                <a:spcAft>
                  <a:spcPts val="0"/>
                </a:spcAft>
                <a:buClr>
                  <a:srgbClr val="B0B0B0"/>
                </a:buClr>
                <a:buSzPts val="1200"/>
                <a:buFont typeface="Inter"/>
                <a:buChar char="●"/>
              </a:pPr>
              <a:r>
                <a:rPr lang="en-US" sz="12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Financial Loss: Direct sunk costs (food, space, logistics).</a:t>
              </a:r>
              <a:endParaRPr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The Roadmap:</a:t>
              </a:r>
              <a:endParaRPr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Scalable Coordination-Enhancement Framework via aligned incentives.</a:t>
              </a:r>
              <a:endParaRPr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6286500" y="3810000"/>
              <a:ext cx="5334000" cy="2190900"/>
            </a:xfrm>
            <a:prstGeom prst="roundRect">
              <a:avLst>
                <a:gd name="adj" fmla="val 5217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65" name="Google Shape;165;p23"/>
            <p:cNvSpPr txBox="1"/>
            <p:nvPr/>
          </p:nvSpPr>
          <p:spPr>
            <a:xfrm>
              <a:off x="6477000" y="3952875"/>
              <a:ext cx="4953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4. Conclusion &amp; Mandate</a:t>
              </a:r>
              <a:endParaRPr sz="16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The Data Mandate:</a:t>
              </a:r>
              <a:endParaRPr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Move toward </a:t>
              </a:r>
              <a:r>
                <a:rPr lang="en-US" sz="12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Accountability Architecture</a:t>
              </a:r>
              <a:r>
                <a:rPr lang="en-US" sz="120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: Social visibility (Public Lists) and minor economic stakes.</a:t>
              </a:r>
              <a:endParaRPr sz="120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Market Validation:</a:t>
              </a:r>
              <a:r>
                <a:rPr lang="en-US" sz="13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endParaRPr sz="13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High appetite for the solution; confirmed Product-Market Fit with vast "Early Access" requests.</a:t>
              </a:r>
              <a:endParaRPr sz="1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SECONDARY RESEARCH</a:t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" name="Google Shape;173;p24"/>
          <p:cNvGrpSpPr/>
          <p:nvPr/>
        </p:nvGrpSpPr>
        <p:grpSpPr>
          <a:xfrm>
            <a:off x="571500" y="1333500"/>
            <a:ext cx="5381700" cy="2476500"/>
            <a:chOff x="571500" y="1333500"/>
            <a:chExt cx="5381700" cy="2476500"/>
          </a:xfrm>
        </p:grpSpPr>
        <p:sp>
          <p:nvSpPr>
            <p:cNvPr id="174" name="Google Shape;174;p24"/>
            <p:cNvSpPr/>
            <p:nvPr/>
          </p:nvSpPr>
          <p:spPr>
            <a:xfrm>
              <a:off x="571500" y="1333500"/>
              <a:ext cx="5381700" cy="2476500"/>
            </a:xfrm>
            <a:prstGeom prst="roundRect">
              <a:avLst>
                <a:gd name="adj" fmla="val 6153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175" name="Google Shape;175;p24"/>
            <p:cNvSpPr txBox="1"/>
            <p:nvPr/>
          </p:nvSpPr>
          <p:spPr>
            <a:xfrm>
              <a:off x="809625" y="1524000"/>
              <a:ext cx="4905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1. The Behavioral Framework</a:t>
              </a:r>
              <a:endParaRPr sz="17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 i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Why Intent ≠ Action</a:t>
              </a:r>
              <a:endParaRPr sz="1300" b="0" i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900"/>
                </a:spcBef>
                <a:spcAft>
                  <a:spcPts val="0"/>
                </a:spcAft>
                <a:buClr>
                  <a:srgbClr val="B0B0B0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Hyperbolic Discounting: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Immediate rewards (dopamine hit) valued over future costs.</a:t>
              </a:r>
              <a:endParaRPr sz="12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Cognitive Effort Aversion: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"Frictionless" sign-ups aren't "logged" as high-priority.</a:t>
              </a:r>
              <a:endParaRPr sz="12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Planned Behavior: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Triggers override rational intent in high-distraction environments.</a:t>
              </a:r>
              <a:endParaRPr sz="12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6" name="Google Shape;176;p24"/>
          <p:cNvGrpSpPr/>
          <p:nvPr/>
        </p:nvGrpSpPr>
        <p:grpSpPr>
          <a:xfrm>
            <a:off x="6238875" y="1333500"/>
            <a:ext cx="5381700" cy="2476500"/>
            <a:chOff x="6238875" y="1333500"/>
            <a:chExt cx="5381700" cy="2476500"/>
          </a:xfrm>
        </p:grpSpPr>
        <p:sp>
          <p:nvSpPr>
            <p:cNvPr id="177" name="Google Shape;177;p24"/>
            <p:cNvSpPr/>
            <p:nvPr/>
          </p:nvSpPr>
          <p:spPr>
            <a:xfrm>
              <a:off x="6238875" y="1333500"/>
              <a:ext cx="5381700" cy="2476500"/>
            </a:xfrm>
            <a:prstGeom prst="roundRect">
              <a:avLst>
                <a:gd name="adj" fmla="val 6153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178" name="Google Shape;178;p24"/>
            <p:cNvSpPr txBox="1"/>
            <p:nvPr/>
          </p:nvSpPr>
          <p:spPr>
            <a:xfrm>
              <a:off x="6477000" y="1524000"/>
              <a:ext cx="4905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2. Economic Benchmarks</a:t>
              </a:r>
              <a:endParaRPr sz="17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 i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The Cost of "No-Shows"</a:t>
              </a:r>
              <a:endParaRPr sz="1300" b="0" i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900"/>
                </a:spcBef>
                <a:spcAft>
                  <a:spcPts val="0"/>
                </a:spcAft>
                <a:buClr>
                  <a:srgbClr val="B0B0B0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Healthcare: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Costs U.S. system </a:t>
              </a:r>
              <a:r>
                <a:rPr lang="en-US" sz="1250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$150B annually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; no-show rates of 15-30% mirror GAPP data.</a:t>
              </a:r>
              <a:endParaRPr sz="12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750"/>
                </a:spcBef>
                <a:spcAft>
                  <a:spcPts val="0"/>
                </a:spcAft>
                <a:buClr>
                  <a:srgbClr val="B0B0B0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The "Trust Tax":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Predictive "Overbooking Economy" (10-15%) punishes reliable participants.</a:t>
              </a:r>
              <a:endParaRPr sz="12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9" name="Google Shape;179;p24"/>
          <p:cNvGrpSpPr/>
          <p:nvPr/>
        </p:nvGrpSpPr>
        <p:grpSpPr>
          <a:xfrm>
            <a:off x="571500" y="4000500"/>
            <a:ext cx="5381700" cy="2476500"/>
            <a:chOff x="571500" y="4000500"/>
            <a:chExt cx="5381700" cy="2476500"/>
          </a:xfrm>
        </p:grpSpPr>
        <p:sp>
          <p:nvSpPr>
            <p:cNvPr id="180" name="Google Shape;180;p24"/>
            <p:cNvSpPr/>
            <p:nvPr/>
          </p:nvSpPr>
          <p:spPr>
            <a:xfrm>
              <a:off x="571500" y="4000500"/>
              <a:ext cx="5381700" cy="2476500"/>
            </a:xfrm>
            <a:prstGeom prst="roundRect">
              <a:avLst>
                <a:gd name="adj" fmla="val 6153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181" name="Google Shape;181;p24"/>
            <p:cNvSpPr txBox="1"/>
            <p:nvPr/>
          </p:nvSpPr>
          <p:spPr>
            <a:xfrm>
              <a:off x="809625" y="4191000"/>
              <a:ext cx="4905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3. The "Friction" Strategy</a:t>
              </a:r>
              <a:endParaRPr sz="17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 i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Rethinking UI/UX</a:t>
              </a:r>
              <a:endParaRPr sz="1300" b="0" i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900"/>
                </a:spcBef>
                <a:spcAft>
                  <a:spcPts val="0"/>
                </a:spcAft>
                <a:buClr>
                  <a:srgbClr val="B0B0B0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"One Sec" Case: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Intentional friction improves follow-through on long-term goals.</a:t>
              </a:r>
              <a:endParaRPr sz="12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750"/>
                </a:spcBef>
                <a:spcAft>
                  <a:spcPts val="0"/>
                </a:spcAft>
                <a:buClr>
                  <a:srgbClr val="B0B0B0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Accountability: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Social visibility to peers (Strava model) increases execution by </a:t>
              </a:r>
              <a:r>
                <a:rPr lang="en-US" sz="1250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2x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2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2" name="Google Shape;182;p24"/>
          <p:cNvGrpSpPr/>
          <p:nvPr/>
        </p:nvGrpSpPr>
        <p:grpSpPr>
          <a:xfrm>
            <a:off x="6238875" y="4000500"/>
            <a:ext cx="5381700" cy="2476500"/>
            <a:chOff x="6238875" y="4000500"/>
            <a:chExt cx="5381700" cy="2476500"/>
          </a:xfrm>
        </p:grpSpPr>
        <p:sp>
          <p:nvSpPr>
            <p:cNvPr id="183" name="Google Shape;183;p24"/>
            <p:cNvSpPr/>
            <p:nvPr/>
          </p:nvSpPr>
          <p:spPr>
            <a:xfrm>
              <a:off x="6238875" y="4000500"/>
              <a:ext cx="5381700" cy="2476500"/>
            </a:xfrm>
            <a:prstGeom prst="roundRect">
              <a:avLst>
                <a:gd name="adj" fmla="val 6153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/>
            </a:p>
          </p:txBody>
        </p:sp>
        <p:sp>
          <p:nvSpPr>
            <p:cNvPr id="184" name="Google Shape;184;p24"/>
            <p:cNvSpPr txBox="1"/>
            <p:nvPr/>
          </p:nvSpPr>
          <p:spPr>
            <a:xfrm>
              <a:off x="6477000" y="4191000"/>
              <a:ext cx="4905300" cy="2095500"/>
            </a:xfrm>
            <a:prstGeom prst="rect">
              <a:avLst/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4. Mechanisms of Success</a:t>
              </a:r>
              <a:endParaRPr sz="17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 i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Proven Interventions</a:t>
              </a:r>
              <a:endParaRPr sz="1300" b="0" i="1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900"/>
                </a:spcBef>
                <a:spcAft>
                  <a:spcPts val="0"/>
                </a:spcAft>
                <a:buClr>
                  <a:srgbClr val="B0B0B0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Micro-Stakes: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$5 refundable deposits leverage "Loss Aversion."</a:t>
              </a:r>
              <a:endParaRPr sz="12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Implementation Intentions: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Specifying 'how' increases follow-through by </a:t>
              </a:r>
              <a:r>
                <a:rPr lang="en-US" sz="1250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40%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2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7975" algn="l" rtl="0">
                <a:spcBef>
                  <a:spcPts val="450"/>
                </a:spcBef>
                <a:spcAft>
                  <a:spcPts val="0"/>
                </a:spcAft>
                <a:buClr>
                  <a:srgbClr val="B0B0B0"/>
                </a:buClr>
                <a:buSzPts val="1250"/>
                <a:buFont typeface="Inter"/>
                <a:buChar char="●"/>
              </a:pPr>
              <a:r>
                <a:rPr lang="en-US" sz="125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Reputation Scoring:</a:t>
              </a:r>
              <a:r>
                <a:rPr lang="en-US" sz="125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 Reliability ranking (Uber/Airbnb) creates long-term stakes.</a:t>
              </a:r>
              <a:endParaRPr sz="125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943100"/>
            <a:ext cx="100869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5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POSTER SHOWCASE</a:t>
            </a:r>
            <a:endParaRPr/>
          </a:p>
        </p:txBody>
      </p:sp>
      <p:sp>
        <p:nvSpPr>
          <p:cNvPr id="192" name="Google Shape;192;p25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6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POSTER METHODOLOGY</a:t>
            </a:r>
            <a:endParaRPr/>
          </a:p>
        </p:txBody>
      </p:sp>
      <p:sp>
        <p:nvSpPr>
          <p:cNvPr id="199" name="Google Shape;199;p26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" name="Google Shape;200;p26"/>
          <p:cNvGrpSpPr/>
          <p:nvPr/>
        </p:nvGrpSpPr>
        <p:grpSpPr>
          <a:xfrm>
            <a:off x="571500" y="1428750"/>
            <a:ext cx="2619300" cy="4000500"/>
            <a:chOff x="571500" y="1428750"/>
            <a:chExt cx="2619300" cy="4000500"/>
          </a:xfrm>
        </p:grpSpPr>
        <p:sp>
          <p:nvSpPr>
            <p:cNvPr id="201" name="Google Shape;201;p26"/>
            <p:cNvSpPr/>
            <p:nvPr/>
          </p:nvSpPr>
          <p:spPr>
            <a:xfrm>
              <a:off x="571500" y="1428750"/>
              <a:ext cx="2619300" cy="4000500"/>
            </a:xfrm>
            <a:prstGeom prst="roundRect">
              <a:avLst>
                <a:gd name="adj" fmla="val 5818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 txBox="1"/>
            <p:nvPr/>
          </p:nvSpPr>
          <p:spPr>
            <a:xfrm>
              <a:off x="571500" y="1428750"/>
              <a:ext cx="26193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Phase 1</a:t>
              </a:r>
              <a:endParaRPr sz="2000" b="1" dirty="0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Primary Research of the problem.</a:t>
              </a:r>
              <a:endParaRPr sz="1400" b="0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3" name="Google Shape;203;p26"/>
          <p:cNvGrpSpPr/>
          <p:nvPr/>
        </p:nvGrpSpPr>
        <p:grpSpPr>
          <a:xfrm>
            <a:off x="3381375" y="1428750"/>
            <a:ext cx="2619300" cy="4000500"/>
            <a:chOff x="3381375" y="1428750"/>
            <a:chExt cx="2619300" cy="4000500"/>
          </a:xfrm>
        </p:grpSpPr>
        <p:sp>
          <p:nvSpPr>
            <p:cNvPr id="204" name="Google Shape;204;p26"/>
            <p:cNvSpPr/>
            <p:nvPr/>
          </p:nvSpPr>
          <p:spPr>
            <a:xfrm>
              <a:off x="3381375" y="1428750"/>
              <a:ext cx="2619300" cy="4000500"/>
            </a:xfrm>
            <a:prstGeom prst="roundRect">
              <a:avLst>
                <a:gd name="adj" fmla="val 5818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 txBox="1"/>
            <p:nvPr/>
          </p:nvSpPr>
          <p:spPr>
            <a:xfrm>
              <a:off x="3381375" y="1428750"/>
              <a:ext cx="26193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40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Phase 2</a:t>
              </a:r>
              <a:endParaRPr sz="2000" b="1" dirty="0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Secondary Research of the problem.</a:t>
              </a:r>
              <a:endParaRPr sz="1400" b="0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6" name="Google Shape;206;p26"/>
          <p:cNvGrpSpPr/>
          <p:nvPr/>
        </p:nvGrpSpPr>
        <p:grpSpPr>
          <a:xfrm>
            <a:off x="6191250" y="1428750"/>
            <a:ext cx="2619300" cy="4000500"/>
            <a:chOff x="6191250" y="1428750"/>
            <a:chExt cx="2619300" cy="4000500"/>
          </a:xfrm>
        </p:grpSpPr>
        <p:sp>
          <p:nvSpPr>
            <p:cNvPr id="207" name="Google Shape;207;p26"/>
            <p:cNvSpPr/>
            <p:nvPr/>
          </p:nvSpPr>
          <p:spPr>
            <a:xfrm>
              <a:off x="6191250" y="1428750"/>
              <a:ext cx="2619300" cy="4000500"/>
            </a:xfrm>
            <a:prstGeom prst="roundRect">
              <a:avLst>
                <a:gd name="adj" fmla="val 5818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 txBox="1"/>
            <p:nvPr/>
          </p:nvSpPr>
          <p:spPr>
            <a:xfrm>
              <a:off x="6191250" y="1428750"/>
              <a:ext cx="26193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0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Phase 3</a:t>
              </a:r>
              <a:endParaRPr sz="2000" b="1" dirty="0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Finalization of research findings.</a:t>
              </a:r>
              <a:endParaRPr sz="1400" b="0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9" name="Google Shape;209;p26"/>
          <p:cNvGrpSpPr/>
          <p:nvPr/>
        </p:nvGrpSpPr>
        <p:grpSpPr>
          <a:xfrm>
            <a:off x="9001125" y="1428750"/>
            <a:ext cx="2619300" cy="4000500"/>
            <a:chOff x="9001125" y="1428750"/>
            <a:chExt cx="2619300" cy="4000500"/>
          </a:xfrm>
        </p:grpSpPr>
        <p:sp>
          <p:nvSpPr>
            <p:cNvPr id="210" name="Google Shape;210;p26"/>
            <p:cNvSpPr/>
            <p:nvPr/>
          </p:nvSpPr>
          <p:spPr>
            <a:xfrm>
              <a:off x="9001125" y="1428750"/>
              <a:ext cx="2619300" cy="4000500"/>
            </a:xfrm>
            <a:prstGeom prst="roundRect">
              <a:avLst>
                <a:gd name="adj" fmla="val 5818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 txBox="1"/>
            <p:nvPr/>
          </p:nvSpPr>
          <p:spPr>
            <a:xfrm>
              <a:off x="9001125" y="1428750"/>
              <a:ext cx="26193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IN" sz="40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IN" sz="2000" b="1" dirty="0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Phase 4</a:t>
              </a: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Synthesis of data into visual model.</a:t>
              </a:r>
              <a:endParaRPr sz="1400" b="0" dirty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F587855-034C-2157-8954-BA732CF1B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6" y="2102999"/>
            <a:ext cx="1366567" cy="11103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D0E1AB-027D-6702-C19D-D0ABF080F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233" y="2102999"/>
            <a:ext cx="1145583" cy="1110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E7ECAA-A334-DE41-1348-5769864B35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7439" y="2102999"/>
            <a:ext cx="1281157" cy="1110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C752C9-373C-295B-2600-32502AD96A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1671" y="2102998"/>
            <a:ext cx="1198457" cy="1110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95500"/>
            <a:ext cx="348615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095500"/>
            <a:ext cx="348615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095500"/>
            <a:ext cx="348615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7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 PHILOSOPHY - CORE</a:t>
            </a:r>
            <a:endParaRPr/>
          </a:p>
        </p:txBody>
      </p:sp>
      <p:sp>
        <p:nvSpPr>
          <p:cNvPr id="221" name="Google Shape;221;p27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971550" y="3200400"/>
            <a:ext cx="284035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rPr>
              <a:t>Immutable Commitment</a:t>
            </a:r>
            <a:endParaRPr/>
          </a:p>
        </p:txBody>
      </p:sp>
      <p:sp>
        <p:nvSpPr>
          <p:cNvPr id="223" name="Google Shape;223;p27"/>
          <p:cNvSpPr txBox="1"/>
          <p:nvPr/>
        </p:nvSpPr>
        <p:spPr>
          <a:xfrm>
            <a:off x="971550" y="3990975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Commitment should be an explicit, recorded action, not a passive byproduct of a chat.</a:t>
            </a:r>
            <a:endParaRPr/>
          </a:p>
        </p:txBody>
      </p:sp>
      <p:sp>
        <p:nvSpPr>
          <p:cNvPr id="224" name="Google Shape;224;p27"/>
          <p:cNvSpPr txBox="1"/>
          <p:nvPr/>
        </p:nvSpPr>
        <p:spPr>
          <a:xfrm>
            <a:off x="4743450" y="3200400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rPr>
              <a:t>Friction-Wise</a:t>
            </a:r>
            <a:endParaRPr/>
          </a:p>
        </p:txBody>
      </p:sp>
      <p:sp>
        <p:nvSpPr>
          <p:cNvPr id="225" name="Google Shape;225;p27"/>
          <p:cNvSpPr txBox="1"/>
          <p:nvPr/>
        </p:nvSpPr>
        <p:spPr>
          <a:xfrm>
            <a:off x="4743450" y="3667125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Adding intentional 'good friction' to filter out low-intent participants.</a:t>
            </a:r>
            <a:endParaRPr/>
          </a:p>
        </p:txBody>
      </p:sp>
      <p:sp>
        <p:nvSpPr>
          <p:cNvPr id="226" name="Google Shape;226;p27"/>
          <p:cNvSpPr txBox="1"/>
          <p:nvPr/>
        </p:nvSpPr>
        <p:spPr>
          <a:xfrm>
            <a:off x="8515350" y="3200400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rPr>
              <a:t>Closed Loop</a:t>
            </a:r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8515350" y="3667125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Every commitment must end in a verification of execution or a recorded failure.</a:t>
            </a:r>
            <a:endParaRPr/>
          </a:p>
        </p:txBody>
      </p:sp>
      <p:pic>
        <p:nvPicPr>
          <p:cNvPr id="228" name="Google Shape;228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2533650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3450" y="25336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5350" y="2533650"/>
            <a:ext cx="3714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62225"/>
            <a:ext cx="53721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62225"/>
            <a:ext cx="53721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 PHILOSOPHY - EXECUTION</a:t>
            </a:r>
            <a:endParaRPr/>
          </a:p>
        </p:txBody>
      </p:sp>
      <p:sp>
        <p:nvSpPr>
          <p:cNvPr id="239" name="Google Shape;239;p28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971550" y="3667125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rPr>
              <a:t>Reciprocity</a:t>
            </a:r>
            <a:endParaRPr/>
          </a:p>
        </p:txBody>
      </p:sp>
      <p:sp>
        <p:nvSpPr>
          <p:cNvPr id="241" name="Google Shape;241;p28"/>
          <p:cNvSpPr txBox="1"/>
          <p:nvPr/>
        </p:nvSpPr>
        <p:spPr>
          <a:xfrm>
            <a:off x="971550" y="4133850"/>
            <a:ext cx="4591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Incentivizing execution through mutual benefit and reputation staking.</a:t>
            </a:r>
            <a:endParaRPr/>
          </a:p>
        </p:txBody>
      </p:sp>
      <p:sp>
        <p:nvSpPr>
          <p:cNvPr id="242" name="Google Shape;242;p28"/>
          <p:cNvSpPr txBox="1"/>
          <p:nvPr/>
        </p:nvSpPr>
        <p:spPr>
          <a:xfrm>
            <a:off x="6629400" y="3667125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rPr>
              <a:t>Active Nudging</a:t>
            </a:r>
            <a:endParaRPr/>
          </a:p>
        </p:txBody>
      </p:sp>
      <p:sp>
        <p:nvSpPr>
          <p:cNvPr id="243" name="Google Shape;243;p28"/>
          <p:cNvSpPr txBox="1"/>
          <p:nvPr/>
        </p:nvSpPr>
        <p:spPr>
          <a:xfrm>
            <a:off x="6629400" y="4133850"/>
            <a:ext cx="4591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Context-aware notifications that track progress toward commitment deadlines.</a:t>
            </a:r>
            <a:endParaRPr/>
          </a:p>
        </p:txBody>
      </p:sp>
      <p:pic>
        <p:nvPicPr>
          <p:cNvPr id="244" name="Google Shape;244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3000375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3000375"/>
            <a:ext cx="3714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62225"/>
            <a:ext cx="34861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562225"/>
            <a:ext cx="34861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562225"/>
            <a:ext cx="34861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9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TOOLS OF RESEARCH</a:t>
            </a:r>
            <a:endParaRPr/>
          </a:p>
        </p:txBody>
      </p:sp>
      <p:sp>
        <p:nvSpPr>
          <p:cNvPr id="255" name="Google Shape;255;p29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971550" y="3667125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rPr>
              <a:t>Empathy Map</a:t>
            </a:r>
            <a:endParaRPr/>
          </a:p>
        </p:txBody>
      </p:sp>
      <p:sp>
        <p:nvSpPr>
          <p:cNvPr id="257" name="Google Shape;257;p29"/>
          <p:cNvSpPr txBox="1"/>
          <p:nvPr/>
        </p:nvSpPr>
        <p:spPr>
          <a:xfrm>
            <a:off x="971550" y="4133850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Decoding user frustrations during coordination failures.</a:t>
            </a:r>
            <a:endParaRPr/>
          </a:p>
        </p:txBody>
      </p:sp>
      <p:sp>
        <p:nvSpPr>
          <p:cNvPr id="258" name="Google Shape;258;p29"/>
          <p:cNvSpPr txBox="1"/>
          <p:nvPr/>
        </p:nvSpPr>
        <p:spPr>
          <a:xfrm>
            <a:off x="4743450" y="3667125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rPr>
              <a:t>Mind Map</a:t>
            </a:r>
            <a:endParaRPr/>
          </a:p>
        </p:txBody>
      </p:sp>
      <p:sp>
        <p:nvSpPr>
          <p:cNvPr id="259" name="Google Shape;259;p29"/>
          <p:cNvSpPr txBox="1"/>
          <p:nvPr/>
        </p:nvSpPr>
        <p:spPr>
          <a:xfrm>
            <a:off x="4743450" y="4133850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Exploring the root causes of the execution gap.</a:t>
            </a:r>
            <a:endParaRPr/>
          </a:p>
        </p:txBody>
      </p:sp>
      <p:sp>
        <p:nvSpPr>
          <p:cNvPr id="260" name="Google Shape;260;p29"/>
          <p:cNvSpPr txBox="1"/>
          <p:nvPr/>
        </p:nvSpPr>
        <p:spPr>
          <a:xfrm>
            <a:off x="8515350" y="3667125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rPr>
              <a:t>User Journey</a:t>
            </a:r>
            <a:endParaRPr/>
          </a:p>
        </p:txBody>
      </p:sp>
      <p:sp>
        <p:nvSpPr>
          <p:cNvPr id="261" name="Google Shape;261;p29"/>
          <p:cNvSpPr txBox="1"/>
          <p:nvPr/>
        </p:nvSpPr>
        <p:spPr>
          <a:xfrm>
            <a:off x="8515350" y="4133850"/>
            <a:ext cx="2705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Mapping the 'Drop-off' points from intent to action.</a:t>
            </a:r>
            <a:endParaRPr/>
          </a:p>
        </p:txBody>
      </p:sp>
      <p:pic>
        <p:nvPicPr>
          <p:cNvPr id="262" name="Google Shape;262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300037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3450" y="3000375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5350" y="3000375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0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PERSONA</a:t>
            </a:r>
            <a:endParaRPr/>
          </a:p>
        </p:txBody>
      </p:sp>
      <p:sp>
        <p:nvSpPr>
          <p:cNvPr id="271" name="Google Shape;271;p30"/>
          <p:cNvSpPr/>
          <p:nvPr/>
        </p:nvSpPr>
        <p:spPr>
          <a:xfrm>
            <a:off x="4572000" y="19050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1E1E1E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0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0"/>
          <p:cNvSpPr txBox="1"/>
          <p:nvPr/>
        </p:nvSpPr>
        <p:spPr>
          <a:xfrm>
            <a:off x="4953000" y="2190750"/>
            <a:ext cx="5905500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rPr>
              <a:t>A Student Organizer</a:t>
            </a:r>
            <a:endParaRPr sz="2800" b="1">
              <a:solidFill>
                <a:srgbClr val="FF6B3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875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rPr>
              <a:t>PAIN POINT</a:t>
            </a:r>
            <a:endParaRPr sz="1600" b="1">
              <a:solidFill>
                <a:srgbClr val="FF6B3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Spends 5 hours a week chasing people who "promised" to show up but didn't.</a:t>
            </a:r>
            <a:endParaRPr sz="14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rPr>
              <a:t>GOAL</a:t>
            </a:r>
            <a:endParaRPr sz="1600" b="1">
              <a:solidFill>
                <a:srgbClr val="FF6B3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Reliable participation data to manage event logistics and resource allocation without manual follow-up.</a:t>
            </a:r>
            <a:endParaRPr sz="14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4" name="Google Shape;274;p30" descr="A silhoutte of a profile picture"/>
          <p:cNvPicPr preferRelativeResize="0"/>
          <p:nvPr/>
        </p:nvPicPr>
        <p:blipFill rotWithShape="1">
          <a:blip r:embed="rId4">
            <a:alphaModFix/>
          </a:blip>
          <a:srcRect l="12234" t="10937" r="11161" b="32715"/>
          <a:stretch/>
        </p:blipFill>
        <p:spPr>
          <a:xfrm>
            <a:off x="638326" y="1879898"/>
            <a:ext cx="4212100" cy="309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8336" y="1996184"/>
            <a:ext cx="2981923" cy="2934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1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SWOT ANALYSIS</a:t>
            </a:r>
            <a:endParaRPr/>
          </a:p>
        </p:txBody>
      </p:sp>
      <p:sp>
        <p:nvSpPr>
          <p:cNvPr id="282" name="Google Shape;282;p31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638175" y="1362075"/>
            <a:ext cx="5238900" cy="2190900"/>
          </a:xfrm>
          <a:prstGeom prst="roundRect">
            <a:avLst>
              <a:gd name="adj" fmla="val 6956"/>
            </a:avLst>
          </a:prstGeom>
          <a:solidFill>
            <a:srgbClr val="1E1E1E"/>
          </a:solidFill>
          <a:ln w="143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1"/>
          <p:cNvSpPr txBox="1"/>
          <p:nvPr/>
        </p:nvSpPr>
        <p:spPr>
          <a:xfrm>
            <a:off x="828675" y="1504950"/>
            <a:ext cx="48579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2C55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STRENGTHS</a:t>
            </a:r>
            <a:endParaRPr sz="1800" b="1">
              <a:solidFill>
                <a:srgbClr val="22C55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304800" algn="l" rtl="0">
              <a:spcBef>
                <a:spcPts val="90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Free end-to-end — no transaction fees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India-first: WhatsApp &amp; SMS integrations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Student-first UI — mobile-first, dark mode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Two-role architecture (student + organizer)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Lightweight SPA — &lt;1s load times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31"/>
          <p:cNvSpPr/>
          <p:nvPr/>
        </p:nvSpPr>
        <p:spPr>
          <a:xfrm>
            <a:off x="6315075" y="1362075"/>
            <a:ext cx="5238900" cy="2190900"/>
          </a:xfrm>
          <a:prstGeom prst="roundRect">
            <a:avLst>
              <a:gd name="adj" fmla="val 6956"/>
            </a:avLst>
          </a:prstGeom>
          <a:solidFill>
            <a:srgbClr val="1E1E1E"/>
          </a:solidFill>
          <a:ln w="143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1"/>
          <p:cNvSpPr txBox="1"/>
          <p:nvPr/>
        </p:nvSpPr>
        <p:spPr>
          <a:xfrm>
            <a:off x="6505575" y="1504950"/>
            <a:ext cx="48579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WEAKNESSES</a:t>
            </a:r>
            <a:endParaRPr sz="1800" b="1">
              <a:solidFill>
                <a:srgbClr val="EF444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304800" algn="l" rtl="0">
              <a:spcBef>
                <a:spcPts val="90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Early stage — no existing user base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Dependent on college admin buy-in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Limited brand awareness vs established apps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Team capacity for ongoing maintenance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No offline functionality yet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638175" y="4000500"/>
            <a:ext cx="5238900" cy="2190900"/>
          </a:xfrm>
          <a:prstGeom prst="roundRect">
            <a:avLst>
              <a:gd name="adj" fmla="val 6956"/>
            </a:avLst>
          </a:prstGeom>
          <a:solidFill>
            <a:srgbClr val="1E1E1E"/>
          </a:solidFill>
          <a:ln w="143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1"/>
          <p:cNvSpPr txBox="1"/>
          <p:nvPr/>
        </p:nvSpPr>
        <p:spPr>
          <a:xfrm>
            <a:off x="828675" y="4143375"/>
            <a:ext cx="48579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OPPORTUNITIES</a:t>
            </a:r>
            <a:endParaRPr sz="1800" b="1">
              <a:solidFill>
                <a:srgbClr val="3B82F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304800" algn="l" rtl="0">
              <a:spcBef>
                <a:spcPts val="90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64% students uninvolved — huge TAM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Colleges digitizing post-pandemic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WhatsApp Business API for notifications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Expand to 500+ colleges Tier 1-3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Sponsorship from clubs / placement cells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6315075" y="4000500"/>
            <a:ext cx="5238900" cy="2190900"/>
          </a:xfrm>
          <a:prstGeom prst="roundRect">
            <a:avLst>
              <a:gd name="adj" fmla="val 6956"/>
            </a:avLst>
          </a:prstGeom>
          <a:solidFill>
            <a:srgbClr val="1E1E1E"/>
          </a:solidFill>
          <a:ln w="143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1"/>
          <p:cNvSpPr txBox="1"/>
          <p:nvPr/>
        </p:nvSpPr>
        <p:spPr>
          <a:xfrm>
            <a:off x="6505575" y="4143375"/>
            <a:ext cx="48579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59E0B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THREATS</a:t>
            </a:r>
            <a:endParaRPr sz="1800" b="1">
              <a:solidFill>
                <a:srgbClr val="F59E0B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304800" algn="l" rtl="0">
              <a:spcBef>
                <a:spcPts val="90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CU Intranet updates could add features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Low student adoption if onboarding is hard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WhatsApp groups too entrenched culturally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Competing student startup platforms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04800" algn="l" rtl="0">
              <a:spcBef>
                <a:spcPts val="45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Inter"/>
              <a:buChar char="●"/>
            </a:pPr>
            <a:r>
              <a:rPr lang="en-US"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Data privacy regulations (DPDP Act 2023)</a:t>
            </a:r>
            <a:endParaRPr sz="1200" b="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2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SURVEYS </a:t>
            </a:r>
            <a:r>
              <a:rPr lang="en-US" sz="285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(Applicants)</a:t>
            </a:r>
            <a:endParaRPr/>
          </a:p>
        </p:txBody>
      </p:sp>
      <p:sp>
        <p:nvSpPr>
          <p:cNvPr id="297" name="Google Shape;297;p32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2"/>
          <p:cNvSpPr/>
          <p:nvPr/>
        </p:nvSpPr>
        <p:spPr>
          <a:xfrm>
            <a:off x="571500" y="133350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2"/>
          <p:cNvSpPr txBox="1"/>
          <p:nvPr/>
        </p:nvSpPr>
        <p:spPr>
          <a:xfrm>
            <a:off x="762000" y="1476375"/>
            <a:ext cx="4953000" cy="2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many events have you missed after RSVP in the last 30 days?</a:t>
            </a:r>
            <a:endParaRPr/>
          </a:p>
        </p:txBody>
      </p:sp>
      <p:sp>
        <p:nvSpPr>
          <p:cNvPr id="300" name="Google Shape;300;p32"/>
          <p:cNvSpPr/>
          <p:nvPr/>
        </p:nvSpPr>
        <p:spPr>
          <a:xfrm>
            <a:off x="6286500" y="133350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2"/>
          <p:cNvSpPr txBox="1"/>
          <p:nvPr/>
        </p:nvSpPr>
        <p:spPr>
          <a:xfrm>
            <a:off x="6477000" y="1476375"/>
            <a:ext cx="4953000" cy="2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</a:pPr>
            <a:r>
              <a:rPr lang="en-US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Reason for Non-Execution</a:t>
            </a:r>
            <a:endParaRPr sz="1400" b="1">
              <a:solidFill>
                <a:srgbClr val="FF6B3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02" name="Google Shape;302;p32"/>
          <p:cNvSpPr/>
          <p:nvPr/>
        </p:nvSpPr>
        <p:spPr>
          <a:xfrm>
            <a:off x="571500" y="400050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2"/>
          <p:cNvSpPr txBox="1"/>
          <p:nvPr/>
        </p:nvSpPr>
        <p:spPr>
          <a:xfrm>
            <a:off x="771525" y="4143375"/>
            <a:ext cx="5133900" cy="2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Ease of clicking 'Join' or 'Sign Up' on platforms?</a:t>
            </a:r>
            <a:endParaRPr/>
          </a:p>
        </p:txBody>
      </p:sp>
      <p:sp>
        <p:nvSpPr>
          <p:cNvPr id="304" name="Google Shape;304;p32"/>
          <p:cNvSpPr/>
          <p:nvPr/>
        </p:nvSpPr>
        <p:spPr>
          <a:xfrm>
            <a:off x="6286500" y="400050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2"/>
          <p:cNvSpPr txBox="1"/>
          <p:nvPr/>
        </p:nvSpPr>
        <p:spPr>
          <a:xfrm>
            <a:off x="6477000" y="4143375"/>
            <a:ext cx="4953000" cy="2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1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lang="en-US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</a:t>
            </a:r>
            <a:r>
              <a:rPr lang="en-US" sz="1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Fix</a:t>
            </a:r>
            <a:r>
              <a:rPr lang="en-US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”</a:t>
            </a:r>
            <a:endParaRPr sz="1400" b="1">
              <a:solidFill>
                <a:srgbClr val="FF6B3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06" name="Google Shape;306;p32"/>
          <p:cNvPicPr preferRelativeResize="0"/>
          <p:nvPr/>
        </p:nvPicPr>
        <p:blipFill rotWithShape="1">
          <a:blip r:embed="rId4">
            <a:alphaModFix/>
          </a:blip>
          <a:srcRect t="20074" b="16"/>
          <a:stretch/>
        </p:blipFill>
        <p:spPr>
          <a:xfrm>
            <a:off x="1143550" y="1928300"/>
            <a:ext cx="4189900" cy="18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2"/>
          <p:cNvPicPr preferRelativeResize="0"/>
          <p:nvPr/>
        </p:nvPicPr>
        <p:blipFill rotWithShape="1">
          <a:blip r:embed="rId5">
            <a:alphaModFix/>
          </a:blip>
          <a:srcRect t="19086" b="8"/>
          <a:stretch/>
        </p:blipFill>
        <p:spPr>
          <a:xfrm>
            <a:off x="638325" y="4452700"/>
            <a:ext cx="5204026" cy="198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2"/>
          <p:cNvPicPr preferRelativeResize="0"/>
          <p:nvPr/>
        </p:nvPicPr>
        <p:blipFill rotWithShape="1">
          <a:blip r:embed="rId6">
            <a:alphaModFix/>
          </a:blip>
          <a:srcRect l="4089" t="19301" r="4853" b="8"/>
          <a:stretch/>
        </p:blipFill>
        <p:spPr>
          <a:xfrm>
            <a:off x="6349700" y="1744750"/>
            <a:ext cx="5204026" cy="198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2" descr="mAKE THE BACKGROUND ACCORDING TO MY THEME OR CHARCOAL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49700" y="4429875"/>
            <a:ext cx="5204026" cy="19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3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SURVEYS </a:t>
            </a:r>
            <a:r>
              <a:rPr lang="en-US" sz="285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(Organisers)</a:t>
            </a:r>
            <a:endParaRPr/>
          </a:p>
        </p:txBody>
      </p:sp>
      <p:sp>
        <p:nvSpPr>
          <p:cNvPr id="316" name="Google Shape;316;p33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3"/>
          <p:cNvSpPr/>
          <p:nvPr/>
        </p:nvSpPr>
        <p:spPr>
          <a:xfrm>
            <a:off x="571500" y="133350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3"/>
          <p:cNvSpPr txBox="1"/>
          <p:nvPr/>
        </p:nvSpPr>
        <p:spPr>
          <a:xfrm>
            <a:off x="762000" y="1476375"/>
            <a:ext cx="4953000" cy="2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1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Broken Commitment Consequences</a:t>
            </a:r>
            <a:endParaRPr sz="1400" b="1">
              <a:solidFill>
                <a:srgbClr val="FF6B3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6286500" y="133350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3"/>
          <p:cNvSpPr txBox="1"/>
          <p:nvPr/>
        </p:nvSpPr>
        <p:spPr>
          <a:xfrm>
            <a:off x="6477000" y="1476375"/>
            <a:ext cx="4953000" cy="2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1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Trust Decrease in Digital Systems</a:t>
            </a:r>
            <a:endParaRPr sz="1400" b="1">
              <a:solidFill>
                <a:srgbClr val="FF6B3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571500" y="400050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3"/>
          <p:cNvSpPr txBox="1"/>
          <p:nvPr/>
        </p:nvSpPr>
        <p:spPr>
          <a:xfrm>
            <a:off x="762000" y="4143375"/>
            <a:ext cx="4953000" cy="2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1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Deliberate Over-booking Habits</a:t>
            </a:r>
            <a:endParaRPr sz="1400" b="1">
              <a:solidFill>
                <a:srgbClr val="FF6B3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6286500" y="4000500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1E1E1E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3"/>
          <p:cNvSpPr txBox="1"/>
          <p:nvPr/>
        </p:nvSpPr>
        <p:spPr>
          <a:xfrm>
            <a:off x="6477000" y="4143375"/>
            <a:ext cx="4953000" cy="21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</a:pPr>
            <a:r>
              <a:rPr lang="en-US" sz="1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Follow-through Rates (Out of 10)</a:t>
            </a:r>
            <a:endParaRPr sz="1400" b="1">
              <a:solidFill>
                <a:srgbClr val="FF6B3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25" name="Google Shape;325;p33"/>
          <p:cNvPicPr preferRelativeResize="0"/>
          <p:nvPr/>
        </p:nvPicPr>
        <p:blipFill rotWithShape="1">
          <a:blip r:embed="rId4">
            <a:alphaModFix/>
          </a:blip>
          <a:srcRect l="4343" t="26112" b="8931"/>
          <a:stretch/>
        </p:blipFill>
        <p:spPr>
          <a:xfrm>
            <a:off x="6363275" y="4459750"/>
            <a:ext cx="5179900" cy="187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3"/>
          <p:cNvPicPr preferRelativeResize="0"/>
          <p:nvPr/>
        </p:nvPicPr>
        <p:blipFill rotWithShape="1">
          <a:blip r:embed="rId5">
            <a:alphaModFix/>
          </a:blip>
          <a:srcRect l="1739" t="18569" b="7804"/>
          <a:stretch/>
        </p:blipFill>
        <p:spPr>
          <a:xfrm>
            <a:off x="706775" y="1792750"/>
            <a:ext cx="5086975" cy="187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3"/>
          <p:cNvPicPr preferRelativeResize="0"/>
          <p:nvPr/>
        </p:nvPicPr>
        <p:blipFill rotWithShape="1">
          <a:blip r:embed="rId6">
            <a:alphaModFix/>
          </a:blip>
          <a:srcRect l="16813" t="25959" r="21894"/>
          <a:stretch/>
        </p:blipFill>
        <p:spPr>
          <a:xfrm>
            <a:off x="628025" y="4369975"/>
            <a:ext cx="5179924" cy="19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3"/>
          <p:cNvPicPr preferRelativeResize="0"/>
          <p:nvPr/>
        </p:nvPicPr>
        <p:blipFill rotWithShape="1">
          <a:blip r:embed="rId7">
            <a:alphaModFix/>
          </a:blip>
          <a:srcRect l="4441" t="26378" r="1874" b="9002"/>
          <a:stretch/>
        </p:blipFill>
        <p:spPr>
          <a:xfrm>
            <a:off x="6363550" y="1719600"/>
            <a:ext cx="5179900" cy="196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4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CONCLUSIONS OF USER STUDY</a:t>
            </a:r>
            <a:endParaRPr/>
          </a:p>
        </p:txBody>
      </p:sp>
      <p:sp>
        <p:nvSpPr>
          <p:cNvPr id="335" name="Google Shape;335;p34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6" name="Google Shape;336;p34"/>
          <p:cNvGrpSpPr/>
          <p:nvPr/>
        </p:nvGrpSpPr>
        <p:grpSpPr>
          <a:xfrm>
            <a:off x="762000" y="1524000"/>
            <a:ext cx="5048400" cy="1905000"/>
            <a:chOff x="762000" y="1524000"/>
            <a:chExt cx="5048400" cy="1905000"/>
          </a:xfrm>
        </p:grpSpPr>
        <p:sp>
          <p:nvSpPr>
            <p:cNvPr id="337" name="Google Shape;337;p34"/>
            <p:cNvSpPr/>
            <p:nvPr/>
          </p:nvSpPr>
          <p:spPr>
            <a:xfrm>
              <a:off x="762000" y="1524000"/>
              <a:ext cx="5048400" cy="1905000"/>
            </a:xfrm>
            <a:prstGeom prst="roundRect">
              <a:avLst>
                <a:gd name="adj" fmla="val 6000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4"/>
            <p:cNvSpPr txBox="1"/>
            <p:nvPr/>
          </p:nvSpPr>
          <p:spPr>
            <a:xfrm>
              <a:off x="952500" y="1714500"/>
              <a:ext cx="4667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Core Cause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Users do not fail because they are malicious or lazy. They fail because the modern digital ecosystem provides </a:t>
              </a:r>
              <a:r>
                <a:rPr lang="en-US" sz="13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zero stakes</a:t>
              </a:r>
              <a:r>
                <a:rPr lang="en-US" sz="13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3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9" name="Google Shape;339;p34"/>
          <p:cNvGrpSpPr/>
          <p:nvPr/>
        </p:nvGrpSpPr>
        <p:grpSpPr>
          <a:xfrm>
            <a:off x="6381750" y="1524000"/>
            <a:ext cx="5048400" cy="1905000"/>
            <a:chOff x="6381750" y="1524000"/>
            <a:chExt cx="5048400" cy="1905000"/>
          </a:xfrm>
        </p:grpSpPr>
        <p:sp>
          <p:nvSpPr>
            <p:cNvPr id="340" name="Google Shape;340;p34"/>
            <p:cNvSpPr/>
            <p:nvPr/>
          </p:nvSpPr>
          <p:spPr>
            <a:xfrm>
              <a:off x="6381750" y="1524000"/>
              <a:ext cx="5048400" cy="1905000"/>
            </a:xfrm>
            <a:prstGeom prst="roundRect">
              <a:avLst>
                <a:gd name="adj" fmla="val 6000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4"/>
            <p:cNvSpPr txBox="1"/>
            <p:nvPr/>
          </p:nvSpPr>
          <p:spPr>
            <a:xfrm>
              <a:off x="6572250" y="1714500"/>
              <a:ext cx="4667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Reminder Gap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Standard reminders are </a:t>
              </a:r>
              <a:r>
                <a:rPr lang="en-US" sz="13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ignored</a:t>
              </a:r>
              <a:r>
                <a:rPr lang="en-US" sz="13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without social or financial weight to back them up.</a:t>
              </a:r>
              <a:endParaRPr sz="13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2" name="Google Shape;342;p34"/>
          <p:cNvGrpSpPr/>
          <p:nvPr/>
        </p:nvGrpSpPr>
        <p:grpSpPr>
          <a:xfrm>
            <a:off x="762000" y="4000500"/>
            <a:ext cx="5048400" cy="1905000"/>
            <a:chOff x="762000" y="4000500"/>
            <a:chExt cx="5048400" cy="1905000"/>
          </a:xfrm>
        </p:grpSpPr>
        <p:sp>
          <p:nvSpPr>
            <p:cNvPr id="343" name="Google Shape;343;p34"/>
            <p:cNvSpPr/>
            <p:nvPr/>
          </p:nvSpPr>
          <p:spPr>
            <a:xfrm>
              <a:off x="762000" y="4000500"/>
              <a:ext cx="5048400" cy="1905000"/>
            </a:xfrm>
            <a:prstGeom prst="roundRect">
              <a:avLst>
                <a:gd name="adj" fmla="val 6000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4"/>
            <p:cNvSpPr txBox="1"/>
            <p:nvPr/>
          </p:nvSpPr>
          <p:spPr>
            <a:xfrm>
              <a:off x="952500" y="4191000"/>
              <a:ext cx="4667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Organizer Penalty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Organizers are punished for being inclusive (over-booking) and thorough in their pre-planning.</a:t>
              </a:r>
              <a:endParaRPr sz="13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5" name="Google Shape;345;p34"/>
          <p:cNvGrpSpPr/>
          <p:nvPr/>
        </p:nvGrpSpPr>
        <p:grpSpPr>
          <a:xfrm>
            <a:off x="6381750" y="4000500"/>
            <a:ext cx="5048400" cy="1905000"/>
            <a:chOff x="6381750" y="4000500"/>
            <a:chExt cx="5048400" cy="1905000"/>
          </a:xfrm>
        </p:grpSpPr>
        <p:sp>
          <p:nvSpPr>
            <p:cNvPr id="346" name="Google Shape;346;p34"/>
            <p:cNvSpPr/>
            <p:nvPr/>
          </p:nvSpPr>
          <p:spPr>
            <a:xfrm>
              <a:off x="6381750" y="4000500"/>
              <a:ext cx="5048400" cy="1905000"/>
            </a:xfrm>
            <a:prstGeom prst="roundRect">
              <a:avLst>
                <a:gd name="adj" fmla="val 6000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4"/>
            <p:cNvSpPr txBox="1"/>
            <p:nvPr/>
          </p:nvSpPr>
          <p:spPr>
            <a:xfrm>
              <a:off x="6572250" y="4191000"/>
              <a:ext cx="4667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Solution Needed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 system is needed that effectively </a:t>
              </a:r>
              <a:r>
                <a:rPr lang="en-US" sz="13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turns commitment into execution</a:t>
              </a:r>
              <a:r>
                <a:rPr lang="en-US" sz="13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3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CONCLUSIONS OF PROBLEM STUDY</a:t>
            </a:r>
            <a:endParaRPr/>
          </a:p>
        </p:txBody>
      </p:sp>
      <p:sp>
        <p:nvSpPr>
          <p:cNvPr id="354" name="Google Shape;354;p35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5" name="Google Shape;355;p35"/>
          <p:cNvGrpSpPr/>
          <p:nvPr/>
        </p:nvGrpSpPr>
        <p:grpSpPr>
          <a:xfrm>
            <a:off x="762000" y="1714500"/>
            <a:ext cx="10668000" cy="3048000"/>
            <a:chOff x="762000" y="1714500"/>
            <a:chExt cx="10668000" cy="3048000"/>
          </a:xfrm>
        </p:grpSpPr>
        <p:sp>
          <p:nvSpPr>
            <p:cNvPr id="356" name="Google Shape;356;p35"/>
            <p:cNvSpPr/>
            <p:nvPr/>
          </p:nvSpPr>
          <p:spPr>
            <a:xfrm>
              <a:off x="762000" y="1714500"/>
              <a:ext cx="3429000" cy="3048000"/>
            </a:xfrm>
            <a:prstGeom prst="roundRect">
              <a:avLst>
                <a:gd name="adj" fmla="val 3750"/>
              </a:avLst>
            </a:prstGeom>
            <a:solidFill>
              <a:srgbClr val="1E1E1E"/>
            </a:solidFill>
            <a:ln w="1430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5"/>
            <p:cNvSpPr txBox="1"/>
            <p:nvPr/>
          </p:nvSpPr>
          <p:spPr>
            <a:xfrm>
              <a:off x="1047750" y="2000250"/>
              <a:ext cx="2857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Accountability Crisis</a:t>
              </a:r>
              <a:endParaRPr sz="20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8" name="Google Shape;358;p35"/>
            <p:cNvSpPr txBox="1"/>
            <p:nvPr/>
          </p:nvSpPr>
          <p:spPr>
            <a:xfrm>
              <a:off x="1047750" y="2524125"/>
              <a:ext cx="2857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The Commitment-Execution Gap is fundamentally an accountability crisis.</a:t>
              </a:r>
              <a:endParaRPr sz="15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9" name="Google Shape;359;p35"/>
            <p:cNvSpPr/>
            <p:nvPr/>
          </p:nvSpPr>
          <p:spPr>
            <a:xfrm>
              <a:off x="4381500" y="1714500"/>
              <a:ext cx="3429000" cy="3048000"/>
            </a:xfrm>
            <a:prstGeom prst="roundRect">
              <a:avLst>
                <a:gd name="adj" fmla="val 3750"/>
              </a:avLst>
            </a:prstGeom>
            <a:solidFill>
              <a:srgbClr val="1E1E1E"/>
            </a:solidFill>
            <a:ln w="1430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5"/>
            <p:cNvSpPr txBox="1"/>
            <p:nvPr/>
          </p:nvSpPr>
          <p:spPr>
            <a:xfrm>
              <a:off x="4667250" y="2000250"/>
              <a:ext cx="2857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Ineffective Tracking</a:t>
              </a:r>
              <a:endParaRPr sz="20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1" name="Google Shape;361;p35"/>
            <p:cNvSpPr txBox="1"/>
            <p:nvPr/>
          </p:nvSpPr>
          <p:spPr>
            <a:xfrm>
              <a:off x="4667250" y="2524125"/>
              <a:ext cx="2857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Traditional "To-Do" lists are insufficient because they track what to do, but provide no penalty or reward for doing it.</a:t>
              </a:r>
              <a:endParaRPr sz="15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2" name="Google Shape;362;p35"/>
            <p:cNvSpPr/>
            <p:nvPr/>
          </p:nvSpPr>
          <p:spPr>
            <a:xfrm>
              <a:off x="8001000" y="1714500"/>
              <a:ext cx="3429000" cy="3048000"/>
            </a:xfrm>
            <a:prstGeom prst="roundRect">
              <a:avLst>
                <a:gd name="adj" fmla="val 3750"/>
              </a:avLst>
            </a:prstGeom>
            <a:solidFill>
              <a:srgbClr val="1E1E1E"/>
            </a:solidFill>
            <a:ln w="1430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5"/>
            <p:cNvSpPr txBox="1"/>
            <p:nvPr/>
          </p:nvSpPr>
          <p:spPr>
            <a:xfrm>
              <a:off x="8286750" y="2000250"/>
              <a:ext cx="2857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Manual Burden</a:t>
              </a:r>
              <a:endParaRPr sz="20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64" name="Google Shape;364;p35"/>
            <p:cNvSpPr txBox="1"/>
            <p:nvPr/>
          </p:nvSpPr>
          <p:spPr>
            <a:xfrm>
              <a:off x="8286750" y="2524125"/>
              <a:ext cx="2857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Manual intervention is currently required to fix these failures.</a:t>
              </a:r>
              <a:endParaRPr sz="15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6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RESEARCH INSIGHTS </a:t>
            </a:r>
            <a:endParaRPr/>
          </a:p>
        </p:txBody>
      </p:sp>
      <p:sp>
        <p:nvSpPr>
          <p:cNvPr id="371" name="Google Shape;371;p36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" name="Google Shape;372;p36"/>
          <p:cNvGrpSpPr/>
          <p:nvPr/>
        </p:nvGrpSpPr>
        <p:grpSpPr>
          <a:xfrm>
            <a:off x="762000" y="1714500"/>
            <a:ext cx="3429000" cy="3048000"/>
            <a:chOff x="762000" y="1714500"/>
            <a:chExt cx="3429000" cy="3048000"/>
          </a:xfrm>
        </p:grpSpPr>
        <p:sp>
          <p:nvSpPr>
            <p:cNvPr id="373" name="Google Shape;373;p36"/>
            <p:cNvSpPr/>
            <p:nvPr/>
          </p:nvSpPr>
          <p:spPr>
            <a:xfrm>
              <a:off x="762000" y="1714500"/>
              <a:ext cx="3429000" cy="3048000"/>
            </a:xfrm>
            <a:prstGeom prst="roundRect">
              <a:avLst>
                <a:gd name="adj" fmla="val 3750"/>
              </a:avLst>
            </a:prstGeom>
            <a:solidFill>
              <a:srgbClr val="1E1E1E"/>
            </a:solidFill>
            <a:ln w="1430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6"/>
            <p:cNvSpPr txBox="1"/>
            <p:nvPr/>
          </p:nvSpPr>
          <p:spPr>
            <a:xfrm>
              <a:off x="1047750" y="2476500"/>
              <a:ext cx="2857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Financial Stakes</a:t>
              </a:r>
              <a:endParaRPr sz="20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76" name="Google Shape;376;p36"/>
            <p:cNvSpPr txBox="1"/>
            <p:nvPr/>
          </p:nvSpPr>
          <p:spPr>
            <a:xfrm>
              <a:off x="1047750" y="2952750"/>
              <a:ext cx="2857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Financial stakes work effectively to ensure commitment, but they can deter casual users from joining.</a:t>
              </a:r>
              <a:endParaRPr sz="14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7" name="Google Shape;377;p36"/>
          <p:cNvGrpSpPr/>
          <p:nvPr/>
        </p:nvGrpSpPr>
        <p:grpSpPr>
          <a:xfrm>
            <a:off x="4381500" y="1714500"/>
            <a:ext cx="3429000" cy="3048000"/>
            <a:chOff x="4381500" y="1714500"/>
            <a:chExt cx="3429000" cy="3048000"/>
          </a:xfrm>
        </p:grpSpPr>
        <p:sp>
          <p:nvSpPr>
            <p:cNvPr id="378" name="Google Shape;378;p36"/>
            <p:cNvSpPr/>
            <p:nvPr/>
          </p:nvSpPr>
          <p:spPr>
            <a:xfrm>
              <a:off x="4381500" y="1714500"/>
              <a:ext cx="3429000" cy="3048000"/>
            </a:xfrm>
            <a:prstGeom prst="roundRect">
              <a:avLst>
                <a:gd name="adj" fmla="val 3750"/>
              </a:avLst>
            </a:prstGeom>
            <a:solidFill>
              <a:srgbClr val="1E1E1E"/>
            </a:solidFill>
            <a:ln w="1430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36"/>
            <p:cNvSpPr txBox="1"/>
            <p:nvPr/>
          </p:nvSpPr>
          <p:spPr>
            <a:xfrm>
              <a:off x="4667250" y="20353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0" name="Google Shape;380;p36"/>
            <p:cNvSpPr txBox="1"/>
            <p:nvPr/>
          </p:nvSpPr>
          <p:spPr>
            <a:xfrm>
              <a:off x="4667250" y="2476500"/>
              <a:ext cx="2857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Social Currency</a:t>
              </a:r>
              <a:endParaRPr sz="20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81" name="Google Shape;381;p36"/>
            <p:cNvSpPr txBox="1"/>
            <p:nvPr/>
          </p:nvSpPr>
          <p:spPr>
            <a:xfrm>
              <a:off x="4667250" y="2952750"/>
              <a:ext cx="2857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Reputation serves as a powerful social currency, driving accountability through communal standing.</a:t>
              </a:r>
              <a:endParaRPr sz="14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2" name="Google Shape;382;p36"/>
          <p:cNvGrpSpPr/>
          <p:nvPr/>
        </p:nvGrpSpPr>
        <p:grpSpPr>
          <a:xfrm>
            <a:off x="8001000" y="1714500"/>
            <a:ext cx="3429000" cy="3048000"/>
            <a:chOff x="8001000" y="1714500"/>
            <a:chExt cx="3429000" cy="3048000"/>
          </a:xfrm>
        </p:grpSpPr>
        <p:sp>
          <p:nvSpPr>
            <p:cNvPr id="383" name="Google Shape;383;p36"/>
            <p:cNvSpPr/>
            <p:nvPr/>
          </p:nvSpPr>
          <p:spPr>
            <a:xfrm>
              <a:off x="8001000" y="1714500"/>
              <a:ext cx="3429000" cy="3048000"/>
            </a:xfrm>
            <a:prstGeom prst="roundRect">
              <a:avLst>
                <a:gd name="adj" fmla="val 3750"/>
              </a:avLst>
            </a:prstGeom>
            <a:solidFill>
              <a:srgbClr val="1E1E1E"/>
            </a:solidFill>
            <a:ln w="1430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6"/>
            <p:cNvSpPr txBox="1"/>
            <p:nvPr/>
          </p:nvSpPr>
          <p:spPr>
            <a:xfrm>
              <a:off x="8286750" y="20353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5" name="Google Shape;385;p36"/>
            <p:cNvSpPr txBox="1"/>
            <p:nvPr/>
          </p:nvSpPr>
          <p:spPr>
            <a:xfrm>
              <a:off x="8286750" y="2476500"/>
              <a:ext cx="2857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Commitment Framing</a:t>
              </a:r>
              <a:endParaRPr sz="20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86" name="Google Shape;386;p36"/>
            <p:cNvSpPr txBox="1"/>
            <p:nvPr/>
          </p:nvSpPr>
          <p:spPr>
            <a:xfrm>
              <a:off x="8286750" y="2952750"/>
              <a:ext cx="2857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Forcing users to type "Implementation Intentions" (the how/when) reduces ghosting rates by 50%.</a:t>
              </a:r>
              <a:endParaRPr sz="1400" b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AEE2AE5-2D01-1684-7AA1-B8E55FF65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097" y="1900292"/>
            <a:ext cx="699681" cy="5762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BCE0E6-E184-9945-9FED-7E38C42A2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653" y="1900292"/>
            <a:ext cx="689190" cy="5762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027ABA-2F73-E756-FBF5-E7F722BD6A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937698"/>
            <a:ext cx="671407" cy="5762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7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MARKET STUDY</a:t>
            </a:r>
            <a:endParaRPr/>
          </a:p>
        </p:txBody>
      </p:sp>
      <p:sp>
        <p:nvSpPr>
          <p:cNvPr id="393" name="Google Shape;393;p37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4" name="Google Shape;394;p37"/>
          <p:cNvGrpSpPr/>
          <p:nvPr/>
        </p:nvGrpSpPr>
        <p:grpSpPr>
          <a:xfrm>
            <a:off x="571500" y="1524000"/>
            <a:ext cx="2571900" cy="3238500"/>
            <a:chOff x="571500" y="1524000"/>
            <a:chExt cx="2571900" cy="3238500"/>
          </a:xfrm>
        </p:grpSpPr>
        <p:sp>
          <p:nvSpPr>
            <p:cNvPr id="395" name="Google Shape;395;p37"/>
            <p:cNvSpPr/>
            <p:nvPr/>
          </p:nvSpPr>
          <p:spPr>
            <a:xfrm>
              <a:off x="571500" y="1524000"/>
              <a:ext cx="2571900" cy="3238500"/>
            </a:xfrm>
            <a:prstGeom prst="roundRect">
              <a:avLst>
                <a:gd name="adj" fmla="val 4444"/>
              </a:avLst>
            </a:prstGeom>
            <a:solidFill>
              <a:srgbClr val="1E1E1E"/>
            </a:solidFill>
            <a:ln w="1430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7"/>
            <p:cNvSpPr txBox="1"/>
            <p:nvPr/>
          </p:nvSpPr>
          <p:spPr>
            <a:xfrm>
              <a:off x="809625" y="1797177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97" name="Google Shape;397;p37"/>
            <p:cNvSpPr txBox="1"/>
            <p:nvPr/>
          </p:nvSpPr>
          <p:spPr>
            <a:xfrm>
              <a:off x="809625" y="2238375"/>
              <a:ext cx="2095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General Event Platforms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Examples: Eventbrite, Whova, Insider.in, BookMyShow, Paytm Insider</a:t>
              </a:r>
              <a:endParaRPr sz="11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600"/>
                </a:spcBef>
                <a:spcAft>
                  <a:spcPts val="0"/>
                </a:spcAft>
                <a:buClr>
                  <a:srgbClr val="A0A0A0"/>
                </a:buClr>
                <a:buSzPts val="1000"/>
                <a:buFont typeface="Inter"/>
                <a:buChar char="●"/>
              </a:pPr>
              <a:r>
                <a:rPr lang="en-US" sz="1000" b="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Paid, corporate-focused</a:t>
              </a:r>
              <a:endParaRPr sz="1000" b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A0A0A0"/>
                </a:buClr>
                <a:buSzPts val="1000"/>
                <a:buFont typeface="Inter"/>
                <a:buChar char="●"/>
              </a:pPr>
              <a:r>
                <a:rPr lang="en-US" sz="1000" b="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Poor campus UX</a:t>
              </a:r>
              <a:endParaRPr sz="1000" b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A0A0A0"/>
                </a:buClr>
                <a:buSzPts val="1000"/>
                <a:buFont typeface="Inter"/>
                <a:buChar char="●"/>
              </a:pPr>
              <a:r>
                <a:rPr lang="en-US" sz="1000" b="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No student verification</a:t>
              </a:r>
              <a:endParaRPr sz="1000" b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8" name="Google Shape;398;p37"/>
          <p:cNvGrpSpPr/>
          <p:nvPr/>
        </p:nvGrpSpPr>
        <p:grpSpPr>
          <a:xfrm>
            <a:off x="3381375" y="1524000"/>
            <a:ext cx="2571900" cy="3238500"/>
            <a:chOff x="3381375" y="1524000"/>
            <a:chExt cx="2571900" cy="3238500"/>
          </a:xfrm>
        </p:grpSpPr>
        <p:sp>
          <p:nvSpPr>
            <p:cNvPr id="399" name="Google Shape;399;p37"/>
            <p:cNvSpPr/>
            <p:nvPr/>
          </p:nvSpPr>
          <p:spPr>
            <a:xfrm>
              <a:off x="3381375" y="1524000"/>
              <a:ext cx="2571900" cy="3238500"/>
            </a:xfrm>
            <a:prstGeom prst="roundRect">
              <a:avLst>
                <a:gd name="adj" fmla="val 4444"/>
              </a:avLst>
            </a:prstGeom>
            <a:solidFill>
              <a:srgbClr val="1E1E1E"/>
            </a:solidFill>
            <a:ln w="1430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7"/>
            <p:cNvSpPr txBox="1"/>
            <p:nvPr/>
          </p:nvSpPr>
          <p:spPr>
            <a:xfrm>
              <a:off x="3619500" y="1797177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01" name="Google Shape;401;p37"/>
            <p:cNvSpPr txBox="1"/>
            <p:nvPr/>
          </p:nvSpPr>
          <p:spPr>
            <a:xfrm>
              <a:off x="3619500" y="2238375"/>
              <a:ext cx="2095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India Campus Platforms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Examples: Unstop, Knowafest, StuMagz, Dare2Compete, CollEvent</a:t>
              </a:r>
              <a:endParaRPr sz="11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600"/>
                </a:spcBef>
                <a:spcAft>
                  <a:spcPts val="0"/>
                </a:spcAft>
                <a:buClr>
                  <a:srgbClr val="A0A0A0"/>
                </a:buClr>
                <a:buSzPts val="1000"/>
                <a:buFont typeface="Inter"/>
                <a:buChar char="●"/>
              </a:pPr>
              <a:r>
                <a:rPr lang="en-US" sz="1000" b="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Competition-only or listing-only</a:t>
              </a:r>
              <a:endParaRPr sz="1000" b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A0A0A0"/>
                </a:buClr>
                <a:buSzPts val="1000"/>
                <a:buFont typeface="Inter"/>
                <a:buChar char="●"/>
              </a:pPr>
              <a:r>
                <a:rPr lang="en-US" sz="1000" b="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No full event lifecycle management</a:t>
              </a:r>
              <a:endParaRPr sz="1000" b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2" name="Google Shape;402;p37"/>
          <p:cNvGrpSpPr/>
          <p:nvPr/>
        </p:nvGrpSpPr>
        <p:grpSpPr>
          <a:xfrm>
            <a:off x="6191250" y="1524000"/>
            <a:ext cx="2571900" cy="3238500"/>
            <a:chOff x="6191250" y="1524000"/>
            <a:chExt cx="2571900" cy="3238500"/>
          </a:xfrm>
        </p:grpSpPr>
        <p:sp>
          <p:nvSpPr>
            <p:cNvPr id="403" name="Google Shape;403;p37"/>
            <p:cNvSpPr/>
            <p:nvPr/>
          </p:nvSpPr>
          <p:spPr>
            <a:xfrm>
              <a:off x="6191250" y="1524000"/>
              <a:ext cx="2571900" cy="3238500"/>
            </a:xfrm>
            <a:prstGeom prst="roundRect">
              <a:avLst>
                <a:gd name="adj" fmla="val 4444"/>
              </a:avLst>
            </a:prstGeom>
            <a:solidFill>
              <a:srgbClr val="1E1E1E"/>
            </a:solidFill>
            <a:ln w="1430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7"/>
            <p:cNvSpPr txBox="1"/>
            <p:nvPr/>
          </p:nvSpPr>
          <p:spPr>
            <a:xfrm>
              <a:off x="6429375" y="1797177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05" name="Google Shape;405;p37"/>
            <p:cNvSpPr txBox="1"/>
            <p:nvPr/>
          </p:nvSpPr>
          <p:spPr>
            <a:xfrm>
              <a:off x="6429375" y="2238375"/>
              <a:ext cx="2095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Service-Based Platforms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Examples: TeamOrange, Hire4Event, Gradnet, Just Attend, Pathfly</a:t>
              </a:r>
              <a:endParaRPr sz="11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600"/>
                </a:spcBef>
                <a:spcAft>
                  <a:spcPts val="0"/>
                </a:spcAft>
                <a:buClr>
                  <a:srgbClr val="A0A0A0"/>
                </a:buClr>
                <a:buSzPts val="1000"/>
                <a:buFont typeface="Inter"/>
                <a:buChar char="●"/>
              </a:pPr>
              <a:r>
                <a:rPr lang="en-US" sz="1000" b="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Expensive, admin-heavy</a:t>
              </a:r>
              <a:endParaRPr sz="1000" b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A0A0A0"/>
                </a:buClr>
                <a:buSzPts val="1000"/>
                <a:buFont typeface="Inter"/>
                <a:buChar char="●"/>
              </a:pPr>
              <a:r>
                <a:rPr lang="en-US" sz="1000" b="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Not student facing or self-service</a:t>
              </a:r>
              <a:endParaRPr sz="1000" b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6" name="Google Shape;406;p37"/>
          <p:cNvGrpSpPr/>
          <p:nvPr/>
        </p:nvGrpSpPr>
        <p:grpSpPr>
          <a:xfrm>
            <a:off x="9001125" y="1524000"/>
            <a:ext cx="2571900" cy="3238500"/>
            <a:chOff x="9001125" y="1524000"/>
            <a:chExt cx="2571900" cy="3238500"/>
          </a:xfrm>
        </p:grpSpPr>
        <p:sp>
          <p:nvSpPr>
            <p:cNvPr id="407" name="Google Shape;407;p37"/>
            <p:cNvSpPr/>
            <p:nvPr/>
          </p:nvSpPr>
          <p:spPr>
            <a:xfrm>
              <a:off x="9001125" y="1524000"/>
              <a:ext cx="2571900" cy="3238500"/>
            </a:xfrm>
            <a:prstGeom prst="roundRect">
              <a:avLst>
                <a:gd name="adj" fmla="val 4444"/>
              </a:avLst>
            </a:prstGeom>
            <a:solidFill>
              <a:srgbClr val="1E1E1E"/>
            </a:solidFill>
            <a:ln w="1430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7"/>
            <p:cNvSpPr txBox="1"/>
            <p:nvPr/>
          </p:nvSpPr>
          <p:spPr>
            <a:xfrm>
              <a:off x="9239250" y="1797177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09" name="Google Shape;409;p37"/>
            <p:cNvSpPr txBox="1"/>
            <p:nvPr/>
          </p:nvSpPr>
          <p:spPr>
            <a:xfrm>
              <a:off x="9239250" y="2238375"/>
              <a:ext cx="2095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International Campus Tools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Examples: CampusGroups, Simplicity Engage, Presence.io, Eventify</a:t>
              </a:r>
              <a:endParaRPr sz="11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600"/>
                </a:spcBef>
                <a:spcAft>
                  <a:spcPts val="0"/>
                </a:spcAft>
                <a:buClr>
                  <a:srgbClr val="A0A0A0"/>
                </a:buClr>
                <a:buSzPts val="1000"/>
                <a:buFont typeface="Inter"/>
                <a:buChar char="●"/>
              </a:pPr>
              <a:r>
                <a:rPr lang="en-US" sz="1000" b="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$5K+/year, US-centric</a:t>
              </a:r>
              <a:endParaRPr sz="1000" b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A0A0A0"/>
                </a:buClr>
                <a:buSzPts val="1000"/>
                <a:buFont typeface="Inter"/>
                <a:buChar char="●"/>
              </a:pPr>
              <a:r>
                <a:rPr lang="en-US" sz="1000" b="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Complex setup, not India-ready</a:t>
              </a:r>
              <a:endParaRPr sz="1000" b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A2597FB-120D-5458-BAB3-05B83F2AA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602" y="1603892"/>
            <a:ext cx="740381" cy="6478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7B7AE6-1754-8C73-92A0-E8F3219ED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727" y="1542600"/>
            <a:ext cx="772561" cy="7392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BF931D-6AD9-E5C2-E0D4-B77C566706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2624" y="1561424"/>
            <a:ext cx="812521" cy="7392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CB7612-E646-FF36-524B-7A5A7ABFA9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617" y="1557890"/>
            <a:ext cx="832501" cy="745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8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COMPETITOR MATRIX</a:t>
            </a:r>
            <a:endParaRPr/>
          </a:p>
        </p:txBody>
      </p:sp>
      <p:sp>
        <p:nvSpPr>
          <p:cNvPr id="416" name="Google Shape;416;p38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7" name="Google Shape;417;p38"/>
          <p:cNvGrpSpPr/>
          <p:nvPr/>
        </p:nvGrpSpPr>
        <p:grpSpPr>
          <a:xfrm>
            <a:off x="571500" y="1333500"/>
            <a:ext cx="11049000" cy="571500"/>
            <a:chOff x="571500" y="1333500"/>
            <a:chExt cx="11049000" cy="571500"/>
          </a:xfrm>
        </p:grpSpPr>
        <p:sp>
          <p:nvSpPr>
            <p:cNvPr id="418" name="Google Shape;418;p38"/>
            <p:cNvSpPr/>
            <p:nvPr/>
          </p:nvSpPr>
          <p:spPr>
            <a:xfrm>
              <a:off x="571500" y="133350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8"/>
            <p:cNvSpPr txBox="1"/>
            <p:nvPr/>
          </p:nvSpPr>
          <p:spPr>
            <a:xfrm>
              <a:off x="571500" y="1333500"/>
              <a:ext cx="1428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Platform</a:t>
              </a:r>
              <a:endParaRPr sz="1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0" name="Google Shape;420;p38"/>
            <p:cNvSpPr txBox="1"/>
            <p:nvPr/>
          </p:nvSpPr>
          <p:spPr>
            <a:xfrm>
              <a:off x="2000250" y="1333500"/>
              <a:ext cx="1238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Fee?</a:t>
              </a:r>
              <a:endPara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1" name="Google Shape;421;p38"/>
            <p:cNvSpPr txBox="1"/>
            <p:nvPr/>
          </p:nvSpPr>
          <p:spPr>
            <a:xfrm>
              <a:off x="3238500" y="1333500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Campus Focus</a:t>
              </a:r>
              <a:endPara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2" name="Google Shape;422;p38"/>
            <p:cNvSpPr txBox="1"/>
            <p:nvPr/>
          </p:nvSpPr>
          <p:spPr>
            <a:xfrm>
              <a:off x="4572000" y="1333500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RSVP Mgmt</a:t>
              </a:r>
              <a:endPara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3" name="Google Shape;423;p38"/>
            <p:cNvSpPr txBox="1"/>
            <p:nvPr/>
          </p:nvSpPr>
          <p:spPr>
            <a:xfrm>
              <a:off x="5905500" y="1333500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Mobile-First</a:t>
              </a:r>
              <a:endPara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4" name="Google Shape;424;p38"/>
            <p:cNvSpPr txBox="1"/>
            <p:nvPr/>
          </p:nvSpPr>
          <p:spPr>
            <a:xfrm>
              <a:off x="7239000" y="1333500"/>
              <a:ext cx="133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India Context</a:t>
              </a:r>
              <a:endPara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5" name="Google Shape;425;p38"/>
            <p:cNvSpPr txBox="1"/>
            <p:nvPr/>
          </p:nvSpPr>
          <p:spPr>
            <a:xfrm>
              <a:off x="8572500" y="133350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Our Edge</a:t>
              </a:r>
              <a:endParaRPr sz="12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426" name="Google Shape;426;p38"/>
          <p:cNvGrpSpPr/>
          <p:nvPr/>
        </p:nvGrpSpPr>
        <p:grpSpPr>
          <a:xfrm>
            <a:off x="571500" y="2000250"/>
            <a:ext cx="11049000" cy="523800"/>
            <a:chOff x="571500" y="2000250"/>
            <a:chExt cx="11049000" cy="523800"/>
          </a:xfrm>
        </p:grpSpPr>
        <p:sp>
          <p:nvSpPr>
            <p:cNvPr id="427" name="Google Shape;427;p38"/>
            <p:cNvSpPr/>
            <p:nvPr/>
          </p:nvSpPr>
          <p:spPr>
            <a:xfrm>
              <a:off x="571500" y="2000250"/>
              <a:ext cx="11049000" cy="523800"/>
            </a:xfrm>
            <a:prstGeom prst="roundRect">
              <a:avLst>
                <a:gd name="adj" fmla="val 7272"/>
              </a:avLst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8"/>
            <p:cNvSpPr txBox="1"/>
            <p:nvPr/>
          </p:nvSpPr>
          <p:spPr>
            <a:xfrm>
              <a:off x="571500" y="2000250"/>
              <a:ext cx="1428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E0E0E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Eventbrite</a:t>
              </a:r>
              <a:endParaRPr sz="1100" b="0">
                <a:solidFill>
                  <a:srgbClr val="E0E0E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29" name="Google Shape;429;p38"/>
            <p:cNvSpPr txBox="1"/>
            <p:nvPr/>
          </p:nvSpPr>
          <p:spPr>
            <a:xfrm>
              <a:off x="2000250" y="2000250"/>
              <a:ext cx="1238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Paid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0" name="Google Shape;430;p38"/>
            <p:cNvSpPr txBox="1"/>
            <p:nvPr/>
          </p:nvSpPr>
          <p:spPr>
            <a:xfrm>
              <a:off x="3238500" y="20002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Corporate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1" name="Google Shape;431;p38"/>
            <p:cNvSpPr txBox="1"/>
            <p:nvPr/>
          </p:nvSpPr>
          <p:spPr>
            <a:xfrm>
              <a:off x="4572000" y="20002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Yes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2" name="Google Shape;432;p38"/>
            <p:cNvSpPr txBox="1"/>
            <p:nvPr/>
          </p:nvSpPr>
          <p:spPr>
            <a:xfrm>
              <a:off x="5905500" y="20002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Partial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3" name="Google Shape;433;p38"/>
            <p:cNvSpPr txBox="1"/>
            <p:nvPr/>
          </p:nvSpPr>
          <p:spPr>
            <a:xfrm>
              <a:off x="7239000" y="20002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No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4" name="Google Shape;434;p38"/>
            <p:cNvSpPr txBox="1"/>
            <p:nvPr/>
          </p:nvSpPr>
          <p:spPr>
            <a:xfrm>
              <a:off x="8572500" y="2000250"/>
              <a:ext cx="3048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0" rIns="142875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Free - student first</a:t>
              </a:r>
              <a:endParaRPr sz="100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5" name="Google Shape;435;p38"/>
          <p:cNvGrpSpPr/>
          <p:nvPr/>
        </p:nvGrpSpPr>
        <p:grpSpPr>
          <a:xfrm>
            <a:off x="571500" y="2571750"/>
            <a:ext cx="11049000" cy="523800"/>
            <a:chOff x="571500" y="2571750"/>
            <a:chExt cx="11049000" cy="523800"/>
          </a:xfrm>
        </p:grpSpPr>
        <p:sp>
          <p:nvSpPr>
            <p:cNvPr id="436" name="Google Shape;436;p38"/>
            <p:cNvSpPr/>
            <p:nvPr/>
          </p:nvSpPr>
          <p:spPr>
            <a:xfrm>
              <a:off x="571500" y="2571750"/>
              <a:ext cx="11049000" cy="523800"/>
            </a:xfrm>
            <a:prstGeom prst="roundRect">
              <a:avLst>
                <a:gd name="adj" fmla="val 7272"/>
              </a:avLst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8"/>
            <p:cNvSpPr txBox="1"/>
            <p:nvPr/>
          </p:nvSpPr>
          <p:spPr>
            <a:xfrm>
              <a:off x="571500" y="2571750"/>
              <a:ext cx="1428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E0E0E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Unstop</a:t>
              </a:r>
              <a:endParaRPr sz="1100" b="0">
                <a:solidFill>
                  <a:srgbClr val="E0E0E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38" name="Google Shape;438;p38"/>
            <p:cNvSpPr txBox="1"/>
            <p:nvPr/>
          </p:nvSpPr>
          <p:spPr>
            <a:xfrm>
              <a:off x="2000250" y="2571750"/>
              <a:ext cx="1238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Free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9" name="Google Shape;439;p38"/>
            <p:cNvSpPr txBox="1"/>
            <p:nvPr/>
          </p:nvSpPr>
          <p:spPr>
            <a:xfrm>
              <a:off x="3238500" y="25717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Competitions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0" name="Google Shape;440;p38"/>
            <p:cNvSpPr txBox="1"/>
            <p:nvPr/>
          </p:nvSpPr>
          <p:spPr>
            <a:xfrm>
              <a:off x="4572000" y="25717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No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1" name="Google Shape;441;p38"/>
            <p:cNvSpPr txBox="1"/>
            <p:nvPr/>
          </p:nvSpPr>
          <p:spPr>
            <a:xfrm>
              <a:off x="5905500" y="25717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Partial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2" name="Google Shape;442;p38"/>
            <p:cNvSpPr txBox="1"/>
            <p:nvPr/>
          </p:nvSpPr>
          <p:spPr>
            <a:xfrm>
              <a:off x="7239000" y="25717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Yes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3" name="Google Shape;443;p38"/>
            <p:cNvSpPr txBox="1"/>
            <p:nvPr/>
          </p:nvSpPr>
          <p:spPr>
            <a:xfrm>
              <a:off x="8572500" y="2571750"/>
              <a:ext cx="3048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0" rIns="142875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All event types - RSVP</a:t>
              </a:r>
              <a:endParaRPr sz="100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4" name="Google Shape;444;p38"/>
          <p:cNvGrpSpPr/>
          <p:nvPr/>
        </p:nvGrpSpPr>
        <p:grpSpPr>
          <a:xfrm>
            <a:off x="571500" y="3143250"/>
            <a:ext cx="11049000" cy="523800"/>
            <a:chOff x="571500" y="3143250"/>
            <a:chExt cx="11049000" cy="523800"/>
          </a:xfrm>
        </p:grpSpPr>
        <p:sp>
          <p:nvSpPr>
            <p:cNvPr id="445" name="Google Shape;445;p38"/>
            <p:cNvSpPr/>
            <p:nvPr/>
          </p:nvSpPr>
          <p:spPr>
            <a:xfrm>
              <a:off x="571500" y="3143250"/>
              <a:ext cx="11049000" cy="523800"/>
            </a:xfrm>
            <a:prstGeom prst="roundRect">
              <a:avLst>
                <a:gd name="adj" fmla="val 7272"/>
              </a:avLst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8"/>
            <p:cNvSpPr txBox="1"/>
            <p:nvPr/>
          </p:nvSpPr>
          <p:spPr>
            <a:xfrm>
              <a:off x="571500" y="3143250"/>
              <a:ext cx="1428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E0E0E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CU Intranet</a:t>
              </a:r>
              <a:endParaRPr sz="1100" b="0">
                <a:solidFill>
                  <a:srgbClr val="E0E0E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47" name="Google Shape;447;p38"/>
            <p:cNvSpPr txBox="1"/>
            <p:nvPr/>
          </p:nvSpPr>
          <p:spPr>
            <a:xfrm>
              <a:off x="2000250" y="3143250"/>
              <a:ext cx="1238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Free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8" name="Google Shape;448;p38"/>
            <p:cNvSpPr txBox="1"/>
            <p:nvPr/>
          </p:nvSpPr>
          <p:spPr>
            <a:xfrm>
              <a:off x="3238500" y="31432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Yes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9" name="Google Shape;449;p38"/>
            <p:cNvSpPr txBox="1"/>
            <p:nvPr/>
          </p:nvSpPr>
          <p:spPr>
            <a:xfrm>
              <a:off x="4572000" y="31432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Manual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0" name="Google Shape;450;p38"/>
            <p:cNvSpPr txBox="1"/>
            <p:nvPr/>
          </p:nvSpPr>
          <p:spPr>
            <a:xfrm>
              <a:off x="5905500" y="31432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Desktop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1" name="Google Shape;451;p38"/>
            <p:cNvSpPr txBox="1"/>
            <p:nvPr/>
          </p:nvSpPr>
          <p:spPr>
            <a:xfrm>
              <a:off x="7239000" y="31432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Yes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2" name="Google Shape;452;p38"/>
            <p:cNvSpPr txBox="1"/>
            <p:nvPr/>
          </p:nvSpPr>
          <p:spPr>
            <a:xfrm>
              <a:off x="8572500" y="3143250"/>
              <a:ext cx="3048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0" rIns="142875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Unified dashboard - auto remind</a:t>
              </a:r>
              <a:endParaRPr sz="100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3" name="Google Shape;453;p38"/>
          <p:cNvGrpSpPr/>
          <p:nvPr/>
        </p:nvGrpSpPr>
        <p:grpSpPr>
          <a:xfrm>
            <a:off x="571500" y="3714750"/>
            <a:ext cx="11049000" cy="523800"/>
            <a:chOff x="571500" y="3714750"/>
            <a:chExt cx="11049000" cy="523800"/>
          </a:xfrm>
        </p:grpSpPr>
        <p:sp>
          <p:nvSpPr>
            <p:cNvPr id="454" name="Google Shape;454;p38"/>
            <p:cNvSpPr/>
            <p:nvPr/>
          </p:nvSpPr>
          <p:spPr>
            <a:xfrm>
              <a:off x="571500" y="3714750"/>
              <a:ext cx="11049000" cy="523800"/>
            </a:xfrm>
            <a:prstGeom prst="roundRect">
              <a:avLst>
                <a:gd name="adj" fmla="val 7272"/>
              </a:avLst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8"/>
            <p:cNvSpPr txBox="1"/>
            <p:nvPr/>
          </p:nvSpPr>
          <p:spPr>
            <a:xfrm>
              <a:off x="571500" y="3714750"/>
              <a:ext cx="1428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E0E0E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CampusGroups</a:t>
              </a:r>
              <a:endParaRPr sz="1100" b="0">
                <a:solidFill>
                  <a:srgbClr val="E0E0E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56" name="Google Shape;456;p38"/>
            <p:cNvSpPr txBox="1"/>
            <p:nvPr/>
          </p:nvSpPr>
          <p:spPr>
            <a:xfrm>
              <a:off x="2000250" y="3714750"/>
              <a:ext cx="1238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$5K+/yr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7" name="Google Shape;457;p38"/>
            <p:cNvSpPr txBox="1"/>
            <p:nvPr/>
          </p:nvSpPr>
          <p:spPr>
            <a:xfrm>
              <a:off x="3238500" y="37147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Yes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8" name="Google Shape;458;p38"/>
            <p:cNvSpPr txBox="1"/>
            <p:nvPr/>
          </p:nvSpPr>
          <p:spPr>
            <a:xfrm>
              <a:off x="4572000" y="37147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Yes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9" name="Google Shape;459;p38"/>
            <p:cNvSpPr txBox="1"/>
            <p:nvPr/>
          </p:nvSpPr>
          <p:spPr>
            <a:xfrm>
              <a:off x="5905500" y="37147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Yes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0" name="Google Shape;460;p38"/>
            <p:cNvSpPr txBox="1"/>
            <p:nvPr/>
          </p:nvSpPr>
          <p:spPr>
            <a:xfrm>
              <a:off x="7239000" y="37147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No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1" name="Google Shape;461;p38"/>
            <p:cNvSpPr txBox="1"/>
            <p:nvPr/>
          </p:nvSpPr>
          <p:spPr>
            <a:xfrm>
              <a:off x="8572500" y="3714750"/>
              <a:ext cx="3048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0" rIns="142875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Zero cost + WhatsApp native</a:t>
              </a:r>
              <a:endParaRPr sz="100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2" name="Google Shape;462;p38"/>
          <p:cNvGrpSpPr/>
          <p:nvPr/>
        </p:nvGrpSpPr>
        <p:grpSpPr>
          <a:xfrm>
            <a:off x="571500" y="4286250"/>
            <a:ext cx="11049000" cy="523800"/>
            <a:chOff x="571500" y="4286250"/>
            <a:chExt cx="11049000" cy="523800"/>
          </a:xfrm>
        </p:grpSpPr>
        <p:sp>
          <p:nvSpPr>
            <p:cNvPr id="463" name="Google Shape;463;p38"/>
            <p:cNvSpPr/>
            <p:nvPr/>
          </p:nvSpPr>
          <p:spPr>
            <a:xfrm>
              <a:off x="571500" y="4286250"/>
              <a:ext cx="11049000" cy="523800"/>
            </a:xfrm>
            <a:prstGeom prst="roundRect">
              <a:avLst>
                <a:gd name="adj" fmla="val 7272"/>
              </a:avLst>
            </a:prstGeom>
            <a:solidFill>
              <a:srgbClr val="1A1A1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8"/>
            <p:cNvSpPr txBox="1"/>
            <p:nvPr/>
          </p:nvSpPr>
          <p:spPr>
            <a:xfrm>
              <a:off x="571500" y="4286250"/>
              <a:ext cx="1428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E0E0E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Insider.in</a:t>
              </a:r>
              <a:endParaRPr sz="1100" b="0">
                <a:solidFill>
                  <a:srgbClr val="E0E0E0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65" name="Google Shape;465;p38"/>
            <p:cNvSpPr txBox="1"/>
            <p:nvPr/>
          </p:nvSpPr>
          <p:spPr>
            <a:xfrm>
              <a:off x="2000250" y="4286250"/>
              <a:ext cx="1238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10% fees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6" name="Google Shape;466;p38"/>
            <p:cNvSpPr txBox="1"/>
            <p:nvPr/>
          </p:nvSpPr>
          <p:spPr>
            <a:xfrm>
              <a:off x="3238500" y="42862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Commercial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7" name="Google Shape;467;p38"/>
            <p:cNvSpPr txBox="1"/>
            <p:nvPr/>
          </p:nvSpPr>
          <p:spPr>
            <a:xfrm>
              <a:off x="4572000" y="42862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Basic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8" name="Google Shape;468;p38"/>
            <p:cNvSpPr txBox="1"/>
            <p:nvPr/>
          </p:nvSpPr>
          <p:spPr>
            <a:xfrm>
              <a:off x="5905500" y="42862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Yes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9" name="Google Shape;469;p38"/>
            <p:cNvSpPr txBox="1"/>
            <p:nvPr/>
          </p:nvSpPr>
          <p:spPr>
            <a:xfrm>
              <a:off x="7239000" y="4286250"/>
              <a:ext cx="1333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Yes</a:t>
              </a:r>
              <a:endParaRPr sz="100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0" name="Google Shape;470;p38"/>
            <p:cNvSpPr txBox="1"/>
            <p:nvPr/>
          </p:nvSpPr>
          <p:spPr>
            <a:xfrm>
              <a:off x="8572500" y="4286250"/>
              <a:ext cx="3048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0" rIns="142875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No fees - college verified</a:t>
              </a:r>
              <a:endParaRPr sz="100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1" name="Google Shape;471;p38"/>
          <p:cNvGrpSpPr/>
          <p:nvPr/>
        </p:nvGrpSpPr>
        <p:grpSpPr>
          <a:xfrm>
            <a:off x="571500" y="4905375"/>
            <a:ext cx="11049000" cy="619200"/>
            <a:chOff x="571500" y="4905375"/>
            <a:chExt cx="11049000" cy="619200"/>
          </a:xfrm>
        </p:grpSpPr>
        <p:sp>
          <p:nvSpPr>
            <p:cNvPr id="472" name="Google Shape;472;p38"/>
            <p:cNvSpPr/>
            <p:nvPr/>
          </p:nvSpPr>
          <p:spPr>
            <a:xfrm>
              <a:off x="571500" y="4905375"/>
              <a:ext cx="11049000" cy="619200"/>
            </a:xfrm>
            <a:prstGeom prst="roundRect">
              <a:avLst>
                <a:gd name="adj" fmla="val 12307"/>
              </a:avLst>
            </a:prstGeom>
            <a:solidFill>
              <a:srgbClr val="1E1E1E"/>
            </a:solidFill>
            <a:ln w="1905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8"/>
            <p:cNvSpPr txBox="1"/>
            <p:nvPr/>
          </p:nvSpPr>
          <p:spPr>
            <a:xfrm>
              <a:off x="571500" y="4905375"/>
              <a:ext cx="1428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gapp</a:t>
              </a:r>
              <a:endParaRPr sz="1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74" name="Google Shape;474;p38"/>
            <p:cNvSpPr txBox="1"/>
            <p:nvPr/>
          </p:nvSpPr>
          <p:spPr>
            <a:xfrm>
              <a:off x="2000250" y="4905375"/>
              <a:ext cx="1238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FREE</a:t>
              </a:r>
              <a:endParaRPr sz="11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5" name="Google Shape;475;p38"/>
            <p:cNvSpPr txBox="1"/>
            <p:nvPr/>
          </p:nvSpPr>
          <p:spPr>
            <a:xfrm>
              <a:off x="3238500" y="4905375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College-first</a:t>
              </a:r>
              <a:endParaRPr sz="11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6" name="Google Shape;476;p38"/>
            <p:cNvSpPr txBox="1"/>
            <p:nvPr/>
          </p:nvSpPr>
          <p:spPr>
            <a:xfrm>
              <a:off x="4572000" y="4905375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AUTO</a:t>
              </a:r>
              <a:endParaRPr sz="11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7" name="Google Shape;477;p38"/>
            <p:cNvSpPr txBox="1"/>
            <p:nvPr/>
          </p:nvSpPr>
          <p:spPr>
            <a:xfrm>
              <a:off x="5905500" y="4905375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Mobile PWA</a:t>
              </a:r>
              <a:endParaRPr sz="11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8" name="Google Shape;478;p38"/>
            <p:cNvSpPr txBox="1"/>
            <p:nvPr/>
          </p:nvSpPr>
          <p:spPr>
            <a:xfrm>
              <a:off x="7239000" y="4905375"/>
              <a:ext cx="1333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WhatsApp-SMS</a:t>
              </a:r>
              <a:endParaRPr sz="11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9" name="Google Shape;479;p38"/>
            <p:cNvSpPr txBox="1"/>
            <p:nvPr/>
          </p:nvSpPr>
          <p:spPr>
            <a:xfrm>
              <a:off x="8572500" y="4905375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0" rIns="142875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END-TO-END SOLUTION</a:t>
              </a:r>
              <a:endParaRPr sz="12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9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CONCLUSIONS OF MARKET STUDY</a:t>
            </a:r>
            <a:endParaRPr/>
          </a:p>
        </p:txBody>
      </p:sp>
      <p:sp>
        <p:nvSpPr>
          <p:cNvPr id="486" name="Google Shape;486;p39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7" name="Google Shape;487;p39"/>
          <p:cNvGrpSpPr/>
          <p:nvPr/>
        </p:nvGrpSpPr>
        <p:grpSpPr>
          <a:xfrm>
            <a:off x="581025" y="1524000"/>
            <a:ext cx="3429000" cy="3048000"/>
            <a:chOff x="581025" y="1524000"/>
            <a:chExt cx="3429000" cy="3048000"/>
          </a:xfrm>
        </p:grpSpPr>
        <p:sp>
          <p:nvSpPr>
            <p:cNvPr id="488" name="Google Shape;488;p39"/>
            <p:cNvSpPr/>
            <p:nvPr/>
          </p:nvSpPr>
          <p:spPr>
            <a:xfrm>
              <a:off x="581025" y="1524000"/>
              <a:ext cx="3429000" cy="3048000"/>
            </a:xfrm>
            <a:prstGeom prst="roundRect">
              <a:avLst>
                <a:gd name="adj" fmla="val 3750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9"/>
            <p:cNvSpPr txBox="1"/>
            <p:nvPr/>
          </p:nvSpPr>
          <p:spPr>
            <a:xfrm>
              <a:off x="771525" y="1714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Process Used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90" name="Google Shape;490;p39"/>
            <p:cNvSpPr txBox="1"/>
            <p:nvPr/>
          </p:nvSpPr>
          <p:spPr>
            <a:xfrm>
              <a:off x="771525" y="2190750"/>
              <a:ext cx="30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311150" algn="l" rtl="0">
                <a:spcBef>
                  <a:spcPts val="0"/>
                </a:spcBef>
                <a:spcAft>
                  <a:spcPts val="0"/>
                </a:spcAft>
                <a:buClr>
                  <a:srgbClr val="E0E0E0"/>
                </a:buClr>
                <a:buSzPts val="1300"/>
                <a:buFont typeface="Inter"/>
                <a:buChar char="●"/>
              </a:pP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Feature comparison</a:t>
              </a:r>
              <a:endParaRPr sz="13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1150" algn="l" rtl="0">
                <a:spcBef>
                  <a:spcPts val="900"/>
                </a:spcBef>
                <a:spcAft>
                  <a:spcPts val="0"/>
                </a:spcAft>
                <a:buClr>
                  <a:srgbClr val="E0E0E0"/>
                </a:buClr>
                <a:buSzPts val="1300"/>
                <a:buFont typeface="Inter"/>
                <a:buChar char="●"/>
              </a:pP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UI analysis</a:t>
              </a:r>
              <a:endParaRPr sz="13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1150" algn="l" rtl="0">
                <a:spcBef>
                  <a:spcPts val="900"/>
                </a:spcBef>
                <a:spcAft>
                  <a:spcPts val="0"/>
                </a:spcAft>
                <a:buClr>
                  <a:srgbClr val="E0E0E0"/>
                </a:buClr>
                <a:buSzPts val="1300"/>
                <a:buFont typeface="Inter"/>
                <a:buChar char="●"/>
              </a:pP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Friction-testing</a:t>
              </a:r>
              <a:endParaRPr sz="13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91" name="Google Shape;491;p39"/>
          <p:cNvGrpSpPr/>
          <p:nvPr/>
        </p:nvGrpSpPr>
        <p:grpSpPr>
          <a:xfrm>
            <a:off x="4381500" y="1524000"/>
            <a:ext cx="3429000" cy="3048000"/>
            <a:chOff x="4381500" y="1524000"/>
            <a:chExt cx="3429000" cy="3048000"/>
          </a:xfrm>
        </p:grpSpPr>
        <p:sp>
          <p:nvSpPr>
            <p:cNvPr id="492" name="Google Shape;492;p39"/>
            <p:cNvSpPr/>
            <p:nvPr/>
          </p:nvSpPr>
          <p:spPr>
            <a:xfrm>
              <a:off x="4381500" y="1524000"/>
              <a:ext cx="3429000" cy="3048000"/>
            </a:xfrm>
            <a:prstGeom prst="roundRect">
              <a:avLst>
                <a:gd name="adj" fmla="val 3750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9"/>
            <p:cNvSpPr txBox="1"/>
            <p:nvPr/>
          </p:nvSpPr>
          <p:spPr>
            <a:xfrm>
              <a:off x="4572000" y="1714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Market Trends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94" name="Google Shape;494;p39"/>
            <p:cNvSpPr txBox="1"/>
            <p:nvPr/>
          </p:nvSpPr>
          <p:spPr>
            <a:xfrm>
              <a:off x="4572000" y="2190750"/>
              <a:ext cx="30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Tools are currently polarized:</a:t>
              </a:r>
              <a:endParaRPr sz="13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1150" algn="l" rtl="0">
                <a:spcBef>
                  <a:spcPts val="1125"/>
                </a:spcBef>
                <a:spcAft>
                  <a:spcPts val="0"/>
                </a:spcAft>
                <a:buClr>
                  <a:srgbClr val="E0E0E0"/>
                </a:buClr>
                <a:buSzPts val="1300"/>
                <a:buFont typeface="Inter"/>
                <a:buChar char="●"/>
              </a:pPr>
              <a:r>
                <a:rPr lang="en-US" sz="13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Too Soft:</a:t>
              </a: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 Standard To-do lists</a:t>
              </a:r>
              <a:endParaRPr sz="13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1150" algn="l" rtl="0">
                <a:spcBef>
                  <a:spcPts val="900"/>
                </a:spcBef>
                <a:spcAft>
                  <a:spcPts val="0"/>
                </a:spcAft>
                <a:buClr>
                  <a:srgbClr val="E0E0E0"/>
                </a:buClr>
                <a:buSzPts val="1300"/>
                <a:buFont typeface="Inter"/>
                <a:buChar char="●"/>
              </a:pPr>
              <a:r>
                <a:rPr lang="en-US" sz="13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Too Punishing:</a:t>
              </a: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 Beeminder style</a:t>
              </a:r>
              <a:endParaRPr sz="13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95" name="Google Shape;495;p39"/>
          <p:cNvGrpSpPr/>
          <p:nvPr/>
        </p:nvGrpSpPr>
        <p:grpSpPr>
          <a:xfrm>
            <a:off x="8181975" y="1524000"/>
            <a:ext cx="3429000" cy="3048000"/>
            <a:chOff x="8181975" y="1524000"/>
            <a:chExt cx="3429000" cy="3048000"/>
          </a:xfrm>
        </p:grpSpPr>
        <p:sp>
          <p:nvSpPr>
            <p:cNvPr id="496" name="Google Shape;496;p39"/>
            <p:cNvSpPr/>
            <p:nvPr/>
          </p:nvSpPr>
          <p:spPr>
            <a:xfrm>
              <a:off x="8181975" y="1524000"/>
              <a:ext cx="3429000" cy="3048000"/>
            </a:xfrm>
            <a:prstGeom prst="roundRect">
              <a:avLst>
                <a:gd name="adj" fmla="val 3750"/>
              </a:avLst>
            </a:prstGeom>
            <a:solidFill>
              <a:srgbClr val="1E1E1E"/>
            </a:solidFill>
            <a:ln w="1905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/>
            <p:cNvSpPr txBox="1"/>
            <p:nvPr/>
          </p:nvSpPr>
          <p:spPr>
            <a:xfrm>
              <a:off x="8372475" y="1714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Key Insight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98" name="Google Shape;498;p39"/>
            <p:cNvSpPr txBox="1"/>
            <p:nvPr/>
          </p:nvSpPr>
          <p:spPr>
            <a:xfrm>
              <a:off x="8372475" y="2190750"/>
              <a:ext cx="30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There is a </a:t>
              </a:r>
              <a:r>
                <a:rPr lang="en-US" sz="1300" b="1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"missing middle"</a:t>
              </a: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 market for an app that utilizes:</a:t>
              </a:r>
              <a:endParaRPr sz="13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Reputational Stakes</a:t>
              </a:r>
              <a:endParaRPr sz="1600" b="1">
                <a:solidFill>
                  <a:srgbClr val="FF6B3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A0A0A0"/>
                  </a:solidFill>
                  <a:latin typeface="Inter"/>
                  <a:ea typeface="Inter"/>
                  <a:cs typeface="Inter"/>
                  <a:sym typeface="Inter"/>
                </a:rPr>
                <a:t>(A public score system)</a:t>
              </a:r>
              <a:endParaRPr sz="1100" b="0">
                <a:solidFill>
                  <a:srgbClr val="A0A0A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DIFFERENTIATION FACTOR</a:t>
            </a:r>
            <a:endParaRPr/>
          </a:p>
        </p:txBody>
      </p:sp>
      <p:sp>
        <p:nvSpPr>
          <p:cNvPr id="505" name="Google Shape;505;p40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6" name="Google Shape;506;p40"/>
          <p:cNvGrpSpPr/>
          <p:nvPr/>
        </p:nvGrpSpPr>
        <p:grpSpPr>
          <a:xfrm>
            <a:off x="581025" y="1524000"/>
            <a:ext cx="3429000" cy="3238500"/>
            <a:chOff x="581025" y="1524000"/>
            <a:chExt cx="3429000" cy="3238500"/>
          </a:xfrm>
        </p:grpSpPr>
        <p:sp>
          <p:nvSpPr>
            <p:cNvPr id="507" name="Google Shape;507;p40"/>
            <p:cNvSpPr/>
            <p:nvPr/>
          </p:nvSpPr>
          <p:spPr>
            <a:xfrm>
              <a:off x="581025" y="152400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0"/>
            <p:cNvSpPr txBox="1"/>
            <p:nvPr/>
          </p:nvSpPr>
          <p:spPr>
            <a:xfrm>
              <a:off x="771525" y="1714500"/>
              <a:ext cx="304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Secret Sauce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09" name="Google Shape;509;p40"/>
            <p:cNvSpPr txBox="1"/>
            <p:nvPr/>
          </p:nvSpPr>
          <p:spPr>
            <a:xfrm>
              <a:off x="771525" y="2190750"/>
              <a:ext cx="3048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How are we different? We treat a person's "word" as quantifiable currency.</a:t>
              </a:r>
              <a:endParaRPr sz="13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1150" algn="l" rtl="0">
                <a:spcBef>
                  <a:spcPts val="900"/>
                </a:spcBef>
                <a:spcAft>
                  <a:spcPts val="0"/>
                </a:spcAft>
                <a:buClr>
                  <a:srgbClr val="E0E0E0"/>
                </a:buClr>
                <a:buSzPts val="1300"/>
                <a:buFont typeface="Inter"/>
                <a:buChar char="●"/>
              </a:pP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Implementation Intentions (Behavioral Science)</a:t>
              </a:r>
              <a:endParaRPr sz="13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1150" algn="l" rtl="0">
                <a:spcBef>
                  <a:spcPts val="750"/>
                </a:spcBef>
                <a:spcAft>
                  <a:spcPts val="0"/>
                </a:spcAft>
                <a:buClr>
                  <a:srgbClr val="E0E0E0"/>
                </a:buClr>
                <a:buSzPts val="1300"/>
                <a:buFont typeface="Inter"/>
                <a:buChar char="●"/>
              </a:pP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Gapp Leaderboard (Social Mechanic)</a:t>
              </a:r>
              <a:endParaRPr sz="13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11150" algn="l" rtl="0">
                <a:spcBef>
                  <a:spcPts val="750"/>
                </a:spcBef>
                <a:spcAft>
                  <a:spcPts val="0"/>
                </a:spcAft>
                <a:buClr>
                  <a:srgbClr val="E0E0E0"/>
                </a:buClr>
                <a:buSzPts val="1300"/>
                <a:buFont typeface="Inter"/>
                <a:buChar char="●"/>
              </a:pPr>
              <a:r>
                <a:rPr lang="en-US" sz="13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Accountability without financial risk</a:t>
              </a:r>
              <a:endParaRPr sz="13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0" name="Google Shape;510;p40"/>
          <p:cNvGrpSpPr/>
          <p:nvPr/>
        </p:nvGrpSpPr>
        <p:grpSpPr>
          <a:xfrm>
            <a:off x="4371975" y="1524000"/>
            <a:ext cx="7239000" cy="3238500"/>
            <a:chOff x="4371975" y="1524000"/>
            <a:chExt cx="7239000" cy="3238500"/>
          </a:xfrm>
        </p:grpSpPr>
        <p:sp>
          <p:nvSpPr>
            <p:cNvPr id="511" name="Google Shape;511;p40"/>
            <p:cNvSpPr/>
            <p:nvPr/>
          </p:nvSpPr>
          <p:spPr>
            <a:xfrm>
              <a:off x="4371975" y="1524000"/>
              <a:ext cx="7239000" cy="3238500"/>
            </a:xfrm>
            <a:prstGeom prst="roundRect">
              <a:avLst>
                <a:gd name="adj" fmla="val 3529"/>
              </a:avLst>
            </a:prstGeom>
            <a:solidFill>
              <a:srgbClr val="1E1E1E"/>
            </a:solidFill>
            <a:ln w="1905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0"/>
            <p:cNvSpPr txBox="1"/>
            <p:nvPr/>
          </p:nvSpPr>
          <p:spPr>
            <a:xfrm>
              <a:off x="4657725" y="1714500"/>
              <a:ext cx="76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0" i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“</a:t>
              </a:r>
              <a:endParaRPr sz="7500" i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13" name="Google Shape;513;p40"/>
            <p:cNvSpPr txBox="1"/>
            <p:nvPr/>
          </p:nvSpPr>
          <p:spPr>
            <a:xfrm>
              <a:off x="4848225" y="2381250"/>
              <a:ext cx="62865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0" i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"GAPP doesn't just send a message; it secures a commitment."</a:t>
              </a:r>
              <a:endParaRPr sz="3200" b="0" i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1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1"/>
          <p:cNvSpPr txBox="1"/>
          <p:nvPr/>
        </p:nvSpPr>
        <p:spPr>
          <a:xfrm>
            <a:off x="771525" y="581025"/>
            <a:ext cx="952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BRANDING STRATEGY</a:t>
            </a:r>
            <a:endParaRPr sz="2850" b="1">
              <a:solidFill>
                <a:srgbClr val="FF6B3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21" name="Google Shape;521;p41"/>
          <p:cNvGrpSpPr/>
          <p:nvPr/>
        </p:nvGrpSpPr>
        <p:grpSpPr>
          <a:xfrm>
            <a:off x="581025" y="1714500"/>
            <a:ext cx="11030100" cy="4000500"/>
            <a:chOff x="581025" y="1714500"/>
            <a:chExt cx="11030100" cy="4000500"/>
          </a:xfrm>
        </p:grpSpPr>
        <p:sp>
          <p:nvSpPr>
            <p:cNvPr id="522" name="Google Shape;522;p41"/>
            <p:cNvSpPr/>
            <p:nvPr/>
          </p:nvSpPr>
          <p:spPr>
            <a:xfrm>
              <a:off x="581025" y="1714500"/>
              <a:ext cx="11030100" cy="4000500"/>
            </a:xfrm>
            <a:prstGeom prst="roundRect">
              <a:avLst>
                <a:gd name="adj" fmla="val 4761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23" name="Google Shape;523;p41"/>
            <p:cNvPicPr preferRelativeResize="0"/>
            <p:nvPr/>
          </p:nvPicPr>
          <p:blipFill rotWithShape="1">
            <a:blip r:embed="rId5">
              <a:alphaModFix/>
            </a:blip>
            <a:srcRect t="8753" b="8745"/>
            <a:stretch/>
          </p:blipFill>
          <p:spPr>
            <a:xfrm>
              <a:off x="6477000" y="2286000"/>
              <a:ext cx="4762500" cy="2857500"/>
            </a:xfrm>
            <a:prstGeom prst="roundRect">
              <a:avLst>
                <a:gd name="adj" fmla="val 5000"/>
              </a:avLst>
            </a:prstGeom>
            <a:noFill/>
            <a:ln>
              <a:noFill/>
            </a:ln>
          </p:spPr>
        </p:pic>
        <p:sp>
          <p:nvSpPr>
            <p:cNvPr id="524" name="Google Shape;524;p41"/>
            <p:cNvSpPr txBox="1"/>
            <p:nvPr/>
          </p:nvSpPr>
          <p:spPr>
            <a:xfrm>
              <a:off x="962025" y="2095500"/>
              <a:ext cx="5143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Safety and Action</a:t>
              </a:r>
              <a:endParaRPr sz="2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25" name="Google Shape;525;p41"/>
            <p:cNvSpPr txBox="1"/>
            <p:nvPr/>
          </p:nvSpPr>
          <p:spPr>
            <a:xfrm>
              <a:off x="962025" y="2762250"/>
              <a:ext cx="5143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Our brand identity uses </a:t>
              </a:r>
              <a:r>
                <a:rPr lang="en-US" sz="18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Safety Orange</a:t>
              </a:r>
              <a:r>
                <a:rPr lang="en-US" sz="18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 to signify both the urgency of coordination and the caution of commitment.</a:t>
              </a:r>
              <a:endParaRPr sz="18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lang="en-US" sz="18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Deep Charcoal</a:t>
              </a:r>
              <a:r>
                <a:rPr lang="en-US" sz="18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 background provides a professional, focused atmosphere for execution.</a:t>
              </a:r>
              <a:endParaRPr sz="18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526" name="Google Shape;526;p41" title="gapp_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6500" y="3094822"/>
            <a:ext cx="4647726" cy="123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42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NAMING LOGIC</a:t>
            </a:r>
            <a:endParaRPr/>
          </a:p>
        </p:txBody>
      </p:sp>
      <p:sp>
        <p:nvSpPr>
          <p:cNvPr id="533" name="Google Shape;533;p42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4" name="Google Shape;534;p42"/>
          <p:cNvGrpSpPr/>
          <p:nvPr/>
        </p:nvGrpSpPr>
        <p:grpSpPr>
          <a:xfrm>
            <a:off x="581025" y="1524000"/>
            <a:ext cx="11029950" cy="3238500"/>
            <a:chOff x="581025" y="1524000"/>
            <a:chExt cx="11029950" cy="3238500"/>
          </a:xfrm>
        </p:grpSpPr>
        <p:sp>
          <p:nvSpPr>
            <p:cNvPr id="535" name="Google Shape;535;p42"/>
            <p:cNvSpPr/>
            <p:nvPr/>
          </p:nvSpPr>
          <p:spPr>
            <a:xfrm>
              <a:off x="581025" y="152400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2"/>
            <p:cNvSpPr txBox="1"/>
            <p:nvPr/>
          </p:nvSpPr>
          <p:spPr>
            <a:xfrm>
              <a:off x="771525" y="1714500"/>
              <a:ext cx="304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GAP</a:t>
              </a:r>
              <a:endParaRPr sz="2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Identifies the space between saying and doing.</a:t>
              </a:r>
              <a:endParaRPr sz="15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7" name="Google Shape;537;p42"/>
            <p:cNvSpPr/>
            <p:nvPr/>
          </p:nvSpPr>
          <p:spPr>
            <a:xfrm>
              <a:off x="4381500" y="152400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2"/>
            <p:cNvSpPr txBox="1"/>
            <p:nvPr/>
          </p:nvSpPr>
          <p:spPr>
            <a:xfrm>
              <a:off x="4572000" y="1714500"/>
              <a:ext cx="304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APP</a:t>
              </a:r>
              <a:endParaRPr sz="2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The digital vehicle to bridge that structural void.</a:t>
              </a:r>
              <a:endParaRPr sz="15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9" name="Google Shape;539;p42"/>
            <p:cNvSpPr/>
            <p:nvPr/>
          </p:nvSpPr>
          <p:spPr>
            <a:xfrm>
              <a:off x="8181975" y="152400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1E1E1E"/>
            </a:solidFill>
            <a:ln w="19050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2"/>
            <p:cNvSpPr txBox="1"/>
            <p:nvPr/>
          </p:nvSpPr>
          <p:spPr>
            <a:xfrm>
              <a:off x="8372475" y="1714500"/>
              <a:ext cx="304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GAPP</a:t>
              </a:r>
              <a:endParaRPr sz="2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A name that sounds like 'Bridge' in its functional intent.</a:t>
              </a:r>
              <a:endParaRPr sz="15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41" name="Google Shape;541;p42"/>
          <p:cNvGrpSpPr/>
          <p:nvPr/>
        </p:nvGrpSpPr>
        <p:grpSpPr>
          <a:xfrm>
            <a:off x="771525" y="4226052"/>
            <a:ext cx="7981950" cy="381000"/>
            <a:chOff x="771525" y="4226052"/>
            <a:chExt cx="7981950" cy="381000"/>
          </a:xfrm>
        </p:grpSpPr>
        <p:sp>
          <p:nvSpPr>
            <p:cNvPr id="542" name="Google Shape;542;p42"/>
            <p:cNvSpPr txBox="1"/>
            <p:nvPr/>
          </p:nvSpPr>
          <p:spPr>
            <a:xfrm>
              <a:off x="771525" y="4226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43" name="Google Shape;543;p42"/>
            <p:cNvSpPr txBox="1"/>
            <p:nvPr/>
          </p:nvSpPr>
          <p:spPr>
            <a:xfrm>
              <a:off x="4572000" y="4226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44" name="Google Shape;544;p42"/>
            <p:cNvSpPr txBox="1"/>
            <p:nvPr/>
          </p:nvSpPr>
          <p:spPr>
            <a:xfrm>
              <a:off x="8372475" y="4226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FF6B3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C831FCC-76DD-6449-7E82-006E5F5DA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994" y="3727421"/>
            <a:ext cx="944962" cy="9449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3E3276-483C-8612-E215-C7B90F016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127" y="3371850"/>
            <a:ext cx="1152525" cy="129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010C10-8989-4502-EEA3-D99A64422D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62" y="3933825"/>
            <a:ext cx="78105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p43"/>
          <p:cNvGrpSpPr/>
          <p:nvPr/>
        </p:nvGrpSpPr>
        <p:grpSpPr>
          <a:xfrm>
            <a:off x="581025" y="581025"/>
            <a:ext cx="5181000" cy="457200"/>
            <a:chOff x="581025" y="581025"/>
            <a:chExt cx="5181000" cy="457200"/>
          </a:xfrm>
        </p:grpSpPr>
        <p:sp>
          <p:nvSpPr>
            <p:cNvPr id="550" name="Google Shape;550;p43"/>
            <p:cNvSpPr/>
            <p:nvPr/>
          </p:nvSpPr>
          <p:spPr>
            <a:xfrm>
              <a:off x="581025" y="581025"/>
              <a:ext cx="57300" cy="457200"/>
            </a:xfrm>
            <a:prstGeom prst="rect">
              <a:avLst/>
            </a:prstGeom>
            <a:solidFill>
              <a:srgbClr val="FF6B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3"/>
            <p:cNvSpPr txBox="1"/>
            <p:nvPr/>
          </p:nvSpPr>
          <p:spPr>
            <a:xfrm>
              <a:off x="771525" y="581025"/>
              <a:ext cx="4990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LOGO BREAKDOWN</a:t>
              </a:r>
              <a:endParaRPr sz="285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552" name="Google Shape;552;p43"/>
          <p:cNvGrpSpPr/>
          <p:nvPr/>
        </p:nvGrpSpPr>
        <p:grpSpPr>
          <a:xfrm>
            <a:off x="581025" y="1714500"/>
            <a:ext cx="11030100" cy="4000500"/>
            <a:chOff x="581025" y="1714500"/>
            <a:chExt cx="11030100" cy="4000500"/>
          </a:xfrm>
        </p:grpSpPr>
        <p:sp>
          <p:nvSpPr>
            <p:cNvPr id="553" name="Google Shape;553;p43"/>
            <p:cNvSpPr/>
            <p:nvPr/>
          </p:nvSpPr>
          <p:spPr>
            <a:xfrm>
              <a:off x="581025" y="1714500"/>
              <a:ext cx="11030100" cy="4000500"/>
            </a:xfrm>
            <a:prstGeom prst="roundRect">
              <a:avLst>
                <a:gd name="adj" fmla="val 4761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54" name="Google Shape;554;p4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00750" y="3095625"/>
              <a:ext cx="4647600" cy="123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55" name="Google Shape;555;p43"/>
            <p:cNvGrpSpPr/>
            <p:nvPr/>
          </p:nvGrpSpPr>
          <p:grpSpPr>
            <a:xfrm>
              <a:off x="962025" y="2095500"/>
              <a:ext cx="4572000" cy="3143250"/>
              <a:chOff x="962025" y="2095500"/>
              <a:chExt cx="4572000" cy="3143250"/>
            </a:xfrm>
          </p:grpSpPr>
          <p:sp>
            <p:nvSpPr>
              <p:cNvPr id="556" name="Google Shape;556;p43"/>
              <p:cNvSpPr txBox="1"/>
              <p:nvPr/>
            </p:nvSpPr>
            <p:spPr>
              <a:xfrm>
                <a:off x="962025" y="209550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FF6B35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Minimalist Geometry</a:t>
                </a:r>
                <a:endParaRPr sz="24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557" name="Google Shape;557;p43"/>
              <p:cNvSpPr txBox="1"/>
              <p:nvPr/>
            </p:nvSpPr>
            <p:spPr>
              <a:xfrm>
                <a:off x="962025" y="2762250"/>
                <a:ext cx="45720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0">
                    <a:solidFill>
                      <a:srgbClr val="E0E0E0"/>
                    </a:solidFill>
                    <a:latin typeface="Inter"/>
                    <a:ea typeface="Inter"/>
                    <a:cs typeface="Inter"/>
                    <a:sym typeface="Inter"/>
                  </a:rPr>
                  <a:t>The GAPP logo uses a split geometric form representing two separate entities </a:t>
                </a:r>
                <a:r>
                  <a:rPr lang="en-US" sz="1600" b="1">
                    <a:solidFill>
                      <a:srgbClr val="FF6B35"/>
                    </a:solidFill>
                    <a:latin typeface="Inter"/>
                    <a:ea typeface="Inter"/>
                    <a:cs typeface="Inter"/>
                    <a:sym typeface="Inter"/>
                  </a:rPr>
                  <a:t>(Intent and Action)</a:t>
                </a:r>
                <a:r>
                  <a:rPr lang="en-US" sz="1600" b="0">
                    <a:solidFill>
                      <a:srgbClr val="E0E0E0"/>
                    </a:solidFill>
                    <a:latin typeface="Inter"/>
                    <a:ea typeface="Inter"/>
                    <a:cs typeface="Inter"/>
                    <a:sym typeface="Inter"/>
                  </a:rPr>
                  <a:t> being unified through a bridge.</a:t>
                </a:r>
                <a:endParaRPr sz="16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lang="en-US" sz="1600" b="0">
                    <a:solidFill>
                      <a:srgbClr val="E0E0E0"/>
                    </a:solidFill>
                    <a:latin typeface="Inter"/>
                    <a:ea typeface="Inter"/>
                    <a:cs typeface="Inter"/>
                    <a:sym typeface="Inter"/>
                  </a:rPr>
                  <a:t>The </a:t>
                </a:r>
                <a:r>
                  <a:rPr lang="en-US" sz="1600" b="1">
                    <a:solidFill>
                      <a:srgbClr val="FF6B35"/>
                    </a:solidFill>
                    <a:latin typeface="Inter"/>
                    <a:ea typeface="Inter"/>
                    <a:cs typeface="Inter"/>
                    <a:sym typeface="Inter"/>
                  </a:rPr>
                  <a:t>Safety Orange</a:t>
                </a:r>
                <a:r>
                  <a:rPr lang="en-US" sz="1600" b="0">
                    <a:solidFill>
                      <a:srgbClr val="E0E0E0"/>
                    </a:solidFill>
                    <a:latin typeface="Inter"/>
                    <a:ea typeface="Inter"/>
                    <a:cs typeface="Inter"/>
                    <a:sym typeface="Inter"/>
                  </a:rPr>
                  <a:t> highlight specifically marks the 'Verification' point of the bridge.</a:t>
                </a:r>
                <a:endParaRPr sz="16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3" name="Google Shape;563;p44"/>
          <p:cNvGrpSpPr/>
          <p:nvPr/>
        </p:nvGrpSpPr>
        <p:grpSpPr>
          <a:xfrm>
            <a:off x="581025" y="1714500"/>
            <a:ext cx="3429000" cy="4000500"/>
            <a:chOff x="581025" y="1714500"/>
            <a:chExt cx="3429000" cy="4000500"/>
          </a:xfrm>
        </p:grpSpPr>
        <p:sp>
          <p:nvSpPr>
            <p:cNvPr id="564" name="Google Shape;564;p44"/>
            <p:cNvSpPr/>
            <p:nvPr/>
          </p:nvSpPr>
          <p:spPr>
            <a:xfrm>
              <a:off x="581025" y="17145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4"/>
            <p:cNvSpPr/>
            <p:nvPr/>
          </p:nvSpPr>
          <p:spPr>
            <a:xfrm>
              <a:off x="771525" y="1905000"/>
              <a:ext cx="3048000" cy="1143000"/>
            </a:xfrm>
            <a:prstGeom prst="roundRect">
              <a:avLst>
                <a:gd name="adj" fmla="val 6666"/>
              </a:avLst>
            </a:prstGeom>
            <a:solidFill>
              <a:srgbClr val="FF6B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4"/>
            <p:cNvSpPr txBox="1"/>
            <p:nvPr/>
          </p:nvSpPr>
          <p:spPr>
            <a:xfrm>
              <a:off x="771525" y="3238500"/>
              <a:ext cx="3048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19050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Safety Orange</a:t>
              </a:r>
              <a:endParaRPr sz="2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Primary Accent:</a:t>
              </a:r>
              <a:r>
                <a:rPr lang="en-US" sz="14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 High Visibility. Used for calls to action and critical highlights.</a:t>
              </a:r>
              <a:endParaRPr sz="14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67" name="Google Shape;567;p44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568" name="Google Shape;568;p44"/>
            <p:cNvSpPr/>
            <p:nvPr/>
          </p:nvSpPr>
          <p:spPr>
            <a:xfrm>
              <a:off x="4381500" y="17145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1E1E1E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4"/>
            <p:cNvSpPr/>
            <p:nvPr/>
          </p:nvSpPr>
          <p:spPr>
            <a:xfrm>
              <a:off x="4572000" y="1905000"/>
              <a:ext cx="3048000" cy="1143000"/>
            </a:xfrm>
            <a:prstGeom prst="roundRect">
              <a:avLst>
                <a:gd name="adj" fmla="val 6666"/>
              </a:avLst>
            </a:prstGeom>
            <a:solidFill>
              <a:srgbClr val="121212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4"/>
            <p:cNvSpPr txBox="1"/>
            <p:nvPr/>
          </p:nvSpPr>
          <p:spPr>
            <a:xfrm>
              <a:off x="4572000" y="3238500"/>
              <a:ext cx="3048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19050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Deep Charcoal</a:t>
              </a:r>
              <a:endParaRPr sz="2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Background:</a:t>
              </a:r>
              <a:r>
                <a:rPr lang="en-US" sz="14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 Depth &amp; Focus. Provides a professional, modern canvas for content.</a:t>
              </a:r>
              <a:endParaRPr sz="14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71" name="Google Shape;571;p44"/>
          <p:cNvGrpSpPr/>
          <p:nvPr/>
        </p:nvGrpSpPr>
        <p:grpSpPr>
          <a:xfrm>
            <a:off x="8181975" y="1714500"/>
            <a:ext cx="3429000" cy="4000500"/>
            <a:chOff x="8181975" y="1714500"/>
            <a:chExt cx="3429000" cy="4000500"/>
          </a:xfrm>
        </p:grpSpPr>
        <p:sp>
          <p:nvSpPr>
            <p:cNvPr id="572" name="Google Shape;572;p44"/>
            <p:cNvSpPr/>
            <p:nvPr/>
          </p:nvSpPr>
          <p:spPr>
            <a:xfrm>
              <a:off x="8181975" y="17145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1E1E1E"/>
            </a:solidFill>
            <a:ln w="9525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4"/>
            <p:cNvSpPr txBox="1"/>
            <p:nvPr/>
          </p:nvSpPr>
          <p:spPr>
            <a:xfrm>
              <a:off x="8372475" y="1905000"/>
              <a:ext cx="3048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Aa</a:t>
              </a:r>
              <a:endParaRPr sz="4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74" name="Google Shape;574;p44"/>
            <p:cNvSpPr txBox="1"/>
            <p:nvPr/>
          </p:nvSpPr>
          <p:spPr>
            <a:xfrm>
              <a:off x="8372475" y="3238500"/>
              <a:ext cx="3048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19050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Space Grotesk</a:t>
              </a:r>
              <a:endParaRPr sz="24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FF6B35"/>
                  </a:solidFill>
                  <a:latin typeface="Inter"/>
                  <a:ea typeface="Inter"/>
                  <a:cs typeface="Inter"/>
                  <a:sym typeface="Inter"/>
                </a:rPr>
                <a:t>Headers:</a:t>
              </a:r>
              <a:r>
                <a:rPr lang="en-US" sz="14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 Modern &amp; Bold. A clean geometric sans-serif for strong brand presence.</a:t>
              </a:r>
              <a:endParaRPr sz="14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75" name="Google Shape;575;p44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 IDENTITY</a:t>
            </a:r>
            <a:endParaRPr/>
          </a:p>
        </p:txBody>
      </p:sp>
      <p:sp>
        <p:nvSpPr>
          <p:cNvPr id="576" name="Google Shape;576;p44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45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45"/>
          <p:cNvSpPr txBox="1"/>
          <p:nvPr/>
        </p:nvSpPr>
        <p:spPr>
          <a:xfrm>
            <a:off x="771525" y="581025"/>
            <a:ext cx="952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PROTOTYPING</a:t>
            </a:r>
            <a:endParaRPr sz="2850" b="1">
              <a:solidFill>
                <a:srgbClr val="FF6B3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84" name="Google Shape;584;p45"/>
          <p:cNvGrpSpPr/>
          <p:nvPr/>
        </p:nvGrpSpPr>
        <p:grpSpPr>
          <a:xfrm>
            <a:off x="581025" y="1714500"/>
            <a:ext cx="11030100" cy="3810000"/>
            <a:chOff x="581025" y="1714500"/>
            <a:chExt cx="11030100" cy="3810000"/>
          </a:xfrm>
        </p:grpSpPr>
        <p:sp>
          <p:nvSpPr>
            <p:cNvPr id="585" name="Google Shape;585;p45"/>
            <p:cNvSpPr/>
            <p:nvPr/>
          </p:nvSpPr>
          <p:spPr>
            <a:xfrm>
              <a:off x="581025" y="1714500"/>
              <a:ext cx="11030100" cy="3810000"/>
            </a:xfrm>
            <a:prstGeom prst="roundRect">
              <a:avLst>
                <a:gd name="adj" fmla="val 5000"/>
              </a:avLst>
            </a:prstGeom>
            <a:solidFill>
              <a:srgbClr val="1E1E1E"/>
            </a:solidFill>
            <a:ln w="9525" cap="flat" cmpd="sng">
              <a:solidFill>
                <a:srgbClr val="FF6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5"/>
            <p:cNvSpPr txBox="1"/>
            <p:nvPr/>
          </p:nvSpPr>
          <p:spPr>
            <a:xfrm>
              <a:off x="1057275" y="2190750"/>
              <a:ext cx="100776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B0B0B0"/>
                  </a:solidFill>
                  <a:latin typeface="Inter"/>
                  <a:ea typeface="Inter"/>
                  <a:cs typeface="Inter"/>
                  <a:sym typeface="Inter"/>
                </a:rPr>
                <a:t>Experience the solution live at:</a:t>
              </a:r>
              <a:endParaRPr sz="2200">
                <a:solidFill>
                  <a:srgbClr val="B0B0B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3200" b="1" u="sng">
                  <a:solidFill>
                    <a:srgbClr val="FF6B35"/>
                  </a:solidFill>
                  <a:highlight>
                    <a:srgbClr val="1E1E1E"/>
                  </a:highlight>
                  <a:latin typeface="Space Grotesk"/>
                  <a:ea typeface="Space Grotesk"/>
                  <a:cs typeface="Space Grotesk"/>
                  <a:sym typeface="Space Grotesk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https://gapp-tracker.netlify.app/</a:t>
              </a:r>
              <a:endParaRPr sz="3200" b="1">
                <a:solidFill>
                  <a:srgbClr val="FF6B35"/>
                </a:solidFill>
                <a:highlight>
                  <a:srgbClr val="1E1E1E"/>
                </a:highlight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Click the link above to explore</a:t>
              </a:r>
              <a:endParaRPr sz="14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6"/>
          <p:cNvSpPr txBox="1"/>
          <p:nvPr/>
        </p:nvSpPr>
        <p:spPr>
          <a:xfrm>
            <a:off x="771525" y="581025"/>
            <a:ext cx="1138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POTENTIAL</a:t>
            </a:r>
            <a:endParaRPr/>
          </a:p>
        </p:txBody>
      </p:sp>
      <p:sp>
        <p:nvSpPr>
          <p:cNvPr id="593" name="Google Shape;593;p46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4" name="Google Shape;594;p46"/>
          <p:cNvGrpSpPr/>
          <p:nvPr/>
        </p:nvGrpSpPr>
        <p:grpSpPr>
          <a:xfrm>
            <a:off x="581025" y="1714500"/>
            <a:ext cx="3429000" cy="4000500"/>
            <a:chOff x="581025" y="1714500"/>
            <a:chExt cx="3429000" cy="4000500"/>
          </a:xfrm>
        </p:grpSpPr>
        <p:sp>
          <p:nvSpPr>
            <p:cNvPr id="595" name="Google Shape;595;p46"/>
            <p:cNvSpPr/>
            <p:nvPr/>
          </p:nvSpPr>
          <p:spPr>
            <a:xfrm>
              <a:off x="581025" y="17145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6"/>
            <p:cNvSpPr/>
            <p:nvPr/>
          </p:nvSpPr>
          <p:spPr>
            <a:xfrm>
              <a:off x="771525" y="1905000"/>
              <a:ext cx="3048000" cy="1143000"/>
            </a:xfrm>
            <a:prstGeom prst="roundRect">
              <a:avLst>
                <a:gd name="adj" fmla="val 6666"/>
              </a:avLst>
            </a:prstGeom>
            <a:solidFill>
              <a:srgbClr val="FF6B35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6"/>
            <p:cNvSpPr txBox="1"/>
            <p:nvPr/>
          </p:nvSpPr>
          <p:spPr>
            <a:xfrm>
              <a:off x="771525" y="1905000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01</a:t>
              </a:r>
              <a:endParaRPr sz="32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8" name="Google Shape;598;p46"/>
            <p:cNvSpPr txBox="1"/>
            <p:nvPr/>
          </p:nvSpPr>
          <p:spPr>
            <a:xfrm>
              <a:off x="771525" y="3238500"/>
              <a:ext cx="3048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525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Phase 1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Campus Deployment</a:t>
              </a:r>
              <a:endParaRPr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Initial rollout focused on academic environments and student-led testing.</a:t>
              </a:r>
              <a:endParaRPr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9" name="Google Shape;599;p46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600" name="Google Shape;600;p46"/>
            <p:cNvSpPr/>
            <p:nvPr/>
          </p:nvSpPr>
          <p:spPr>
            <a:xfrm>
              <a:off x="4381500" y="17145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6"/>
            <p:cNvSpPr/>
            <p:nvPr/>
          </p:nvSpPr>
          <p:spPr>
            <a:xfrm>
              <a:off x="4572000" y="1905000"/>
              <a:ext cx="3048000" cy="1143000"/>
            </a:xfrm>
            <a:prstGeom prst="roundRect">
              <a:avLst>
                <a:gd name="adj" fmla="val 6666"/>
              </a:avLst>
            </a:prstGeom>
            <a:solidFill>
              <a:srgbClr val="FF6B35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6"/>
            <p:cNvSpPr txBox="1"/>
            <p:nvPr/>
          </p:nvSpPr>
          <p:spPr>
            <a:xfrm>
              <a:off x="4572000" y="1905000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02</a:t>
              </a:r>
              <a:endParaRPr sz="32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03" name="Google Shape;603;p46"/>
            <p:cNvSpPr txBox="1"/>
            <p:nvPr/>
          </p:nvSpPr>
          <p:spPr>
            <a:xfrm>
              <a:off x="4572000" y="3238500"/>
              <a:ext cx="3048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525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Phase 2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SME Operation Coordination</a:t>
              </a:r>
              <a:endParaRPr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Expanding to small and medium enterprises for operational alignment.</a:t>
              </a:r>
              <a:endParaRPr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4" name="Google Shape;604;p46"/>
          <p:cNvGrpSpPr/>
          <p:nvPr/>
        </p:nvGrpSpPr>
        <p:grpSpPr>
          <a:xfrm>
            <a:off x="8181975" y="1714500"/>
            <a:ext cx="3429000" cy="4000500"/>
            <a:chOff x="8181975" y="1714500"/>
            <a:chExt cx="3429000" cy="4000500"/>
          </a:xfrm>
        </p:grpSpPr>
        <p:sp>
          <p:nvSpPr>
            <p:cNvPr id="605" name="Google Shape;605;p46"/>
            <p:cNvSpPr/>
            <p:nvPr/>
          </p:nvSpPr>
          <p:spPr>
            <a:xfrm>
              <a:off x="8181975" y="17145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6"/>
            <p:cNvSpPr/>
            <p:nvPr/>
          </p:nvSpPr>
          <p:spPr>
            <a:xfrm>
              <a:off x="8372475" y="1905000"/>
              <a:ext cx="3048000" cy="1143000"/>
            </a:xfrm>
            <a:prstGeom prst="roundRect">
              <a:avLst>
                <a:gd name="adj" fmla="val 6666"/>
              </a:avLst>
            </a:prstGeom>
            <a:solidFill>
              <a:srgbClr val="FF6B35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6"/>
            <p:cNvSpPr txBox="1"/>
            <p:nvPr/>
          </p:nvSpPr>
          <p:spPr>
            <a:xfrm>
              <a:off x="8372475" y="1905000"/>
              <a:ext cx="3048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03</a:t>
              </a:r>
              <a:endParaRPr sz="32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08" name="Google Shape;608;p46"/>
            <p:cNvSpPr txBox="1"/>
            <p:nvPr/>
          </p:nvSpPr>
          <p:spPr>
            <a:xfrm>
              <a:off x="8372475" y="3238500"/>
              <a:ext cx="3048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525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6B3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Phase 3</a:t>
              </a:r>
              <a:endParaRPr sz="1800" b="1">
                <a:solidFill>
                  <a:srgbClr val="FF6B3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Global Commitment Network</a:t>
              </a:r>
              <a:endParaRPr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Establishment of a large-scale, international ecosystem of partners.</a:t>
              </a:r>
              <a:endParaRPr sz="1200" b="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1750</Words>
  <Application>Microsoft Office PowerPoint</Application>
  <PresentationFormat>Widescreen</PresentationFormat>
  <Paragraphs>284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Material Icons</vt:lpstr>
      <vt:lpstr>Arial</vt:lpstr>
      <vt:lpstr>Space Grotesk</vt:lpstr>
      <vt:lpstr>Calibri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Chaitanya Arora</dc:creator>
  <cp:lastModifiedBy>Chaitanya Arora</cp:lastModifiedBy>
  <cp:revision>2</cp:revision>
  <dcterms:modified xsi:type="dcterms:W3CDTF">2026-04-11T09:32:13Z</dcterms:modified>
</cp:coreProperties>
</file>